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502920"/>
            <a:ext cx="10362895" cy="594360"/>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4338CA"/>
                </a:solidFill>
                <a:latin typeface="Calibri"/>
              </a:defRPr>
            </a:pPr>
            <a:r>
              <a:t>SHRI G. S. INSTITUTE OF TECHNOLOGY &amp; SCIENCE, INDORE</a:t>
            </a:r>
          </a:p>
          <a:p>
            <a:pPr algn="ctr">
              <a:defRPr sz="1100">
                <a:solidFill>
                  <a:srgbClr val="0F172A"/>
                </a:solidFill>
                <a:latin typeface="Calibri"/>
              </a:defRPr>
            </a:pPr>
            <a:r>
              <a:t>DEPARTMENT OF COMPUTER ENGG. | B.Tech III Year Mini Project Proposal (2025–26 SEM A)</a:t>
            </a:r>
          </a:p>
        </p:txBody>
      </p:sp>
      <p:sp>
        <p:nvSpPr>
          <p:cNvPr id="5" name="TextBox 4"/>
          <p:cNvSpPr txBox="1"/>
          <p:nvPr/>
        </p:nvSpPr>
        <p:spPr>
          <a:xfrm>
            <a:off x="914400" y="1234440"/>
            <a:ext cx="10362895" cy="1645920"/>
          </a:xfrm>
          <a:prstGeom prst="rect">
            <a:avLst/>
          </a:prstGeom>
          <a:noFill/>
        </p:spPr>
        <p:txBody>
          <a:bodyPr wrap="square">
            <a:spAutoFit/>
          </a:bodyPr>
          <a:lstStyle/>
          <a:p>
            <a:pPr>
              <a:spcAft>
                <a:spcPts val="200"/>
              </a:spcAft>
              <a:defRPr sz="3600" b="1">
                <a:solidFill>
                  <a:srgbClr val="0F172A"/>
                </a:solidFill>
                <a:latin typeface="Calibri"/>
              </a:defRPr>
            </a:pPr>
            <a:r>
              <a:t>Confidence AI</a:t>
            </a:r>
          </a:p>
          <a:p>
            <a:pPr>
              <a:spcAft>
                <a:spcPts val="400"/>
              </a:spcAft>
              <a:defRPr sz="1800" b="1">
                <a:solidFill>
                  <a:srgbClr val="4338CA"/>
                </a:solidFill>
                <a:latin typeface="Calibri"/>
              </a:defRPr>
            </a:pPr>
            <a:r>
              <a:t>AI-Driven Personality Development &amp; Placement Practice App</a:t>
            </a:r>
          </a:p>
          <a:p>
            <a:pPr>
              <a:defRPr sz="1200">
                <a:solidFill>
                  <a:srgbClr val="475569"/>
                </a:solidFill>
                <a:latin typeface="Calibri"/>
              </a:defRPr>
            </a:pPr>
            <a:r>
              <a:t>A multimodal web platform analyzing video posture, facial warmth, and speech pace for campus placement readiness.</a:t>
            </a:r>
          </a:p>
        </p:txBody>
      </p:sp>
      <p:sp>
        <p:nvSpPr>
          <p:cNvPr id="6" name="Rounded Rectangle 5"/>
          <p:cNvSpPr/>
          <p:nvPr/>
        </p:nvSpPr>
        <p:spPr>
          <a:xfrm>
            <a:off x="914400" y="3063240"/>
            <a:ext cx="502920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172968"/>
            <a:ext cx="4663440" cy="365760"/>
          </a:xfrm>
          <a:prstGeom prst="rect">
            <a:avLst/>
          </a:prstGeom>
          <a:noFill/>
        </p:spPr>
        <p:txBody>
          <a:bodyPr wrap="none">
            <a:spAutoFit/>
          </a:bodyPr>
          <a:lstStyle/>
          <a:p>
            <a:pPr>
              <a:defRPr sz="1400" b="1">
                <a:solidFill>
                  <a:srgbClr val="4338CA"/>
                </a:solidFill>
                <a:latin typeface="Calibri"/>
              </a:defRPr>
            </a:pPr>
            <a:r>
              <a:t>Student Details (Candidates)</a:t>
            </a:r>
          </a:p>
        </p:txBody>
      </p:sp>
      <p:sp>
        <p:nvSpPr>
          <p:cNvPr id="8" name="TextBox 7"/>
          <p:cNvSpPr txBox="1"/>
          <p:nvPr/>
        </p:nvSpPr>
        <p:spPr>
          <a:xfrm>
            <a:off x="1097280" y="3566160"/>
            <a:ext cx="4663440" cy="1371600"/>
          </a:xfrm>
          <a:prstGeom prst="rect">
            <a:avLst/>
          </a:prstGeom>
          <a:noFill/>
        </p:spPr>
        <p:txBody>
          <a:bodyPr wrap="square">
            <a:spAutoFit/>
          </a:bodyPr>
          <a:lstStyle/>
          <a:p>
            <a:pPr>
              <a:spcAft>
                <a:spcPts val="400"/>
              </a:spcAft>
              <a:defRPr sz="1150">
                <a:solidFill>
                  <a:srgbClr val="0F172A"/>
                </a:solidFill>
                <a:latin typeface="Calibri"/>
              </a:defRPr>
            </a:pPr>
            <a:r>
              <a:t>•  Project Batch: B.Tech Computer Engineering (Semester 5 / SEM A)</a:t>
            </a:r>
          </a:p>
          <a:p>
            <a:pPr>
              <a:spcAft>
                <a:spcPts val="400"/>
              </a:spcAft>
              <a:defRPr sz="1150">
                <a:solidFill>
                  <a:srgbClr val="0F172A"/>
                </a:solidFill>
                <a:latin typeface="Calibri"/>
              </a:defRPr>
            </a:pPr>
            <a:r>
              <a:t>•  Student 1: Abhay Randa (Enrollment No. 0801CS221004)</a:t>
            </a:r>
          </a:p>
          <a:p>
            <a:pPr>
              <a:spcAft>
                <a:spcPts val="400"/>
              </a:spcAft>
              <a:defRPr sz="1150">
                <a:solidFill>
                  <a:srgbClr val="0F172A"/>
                </a:solidFill>
                <a:latin typeface="Calibri"/>
              </a:defRPr>
            </a:pPr>
            <a:r>
              <a:t>•  Student 2: Team Member 2 (Enrollment No. 0801CS221xxx)</a:t>
            </a:r>
          </a:p>
          <a:p>
            <a:pPr>
              <a:spcAft>
                <a:spcPts val="400"/>
              </a:spcAft>
              <a:defRPr sz="1150">
                <a:solidFill>
                  <a:srgbClr val="0F172A"/>
                </a:solidFill>
                <a:latin typeface="Calibri"/>
              </a:defRPr>
            </a:pPr>
            <a:r>
              <a:t>•  Class: B.Tech III Year, Session: 2025–2026</a:t>
            </a:r>
          </a:p>
        </p:txBody>
      </p:sp>
      <p:sp>
        <p:nvSpPr>
          <p:cNvPr id="9" name="Rounded Rectangle 8"/>
          <p:cNvSpPr/>
          <p:nvPr/>
        </p:nvSpPr>
        <p:spPr>
          <a:xfrm>
            <a:off x="6248095" y="3063240"/>
            <a:ext cx="5029200" cy="2011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3172968"/>
            <a:ext cx="4663440" cy="365760"/>
          </a:xfrm>
          <a:prstGeom prst="rect">
            <a:avLst/>
          </a:prstGeom>
          <a:noFill/>
        </p:spPr>
        <p:txBody>
          <a:bodyPr wrap="none">
            <a:spAutoFit/>
          </a:bodyPr>
          <a:lstStyle/>
          <a:p>
            <a:pPr>
              <a:defRPr sz="1400" b="1">
                <a:solidFill>
                  <a:srgbClr val="4338CA"/>
                </a:solidFill>
                <a:latin typeface="Calibri"/>
              </a:defRPr>
            </a:pPr>
            <a:r>
              <a:t>Project Supervision &amp; Department</a:t>
            </a:r>
          </a:p>
        </p:txBody>
      </p:sp>
      <p:sp>
        <p:nvSpPr>
          <p:cNvPr id="11" name="TextBox 10"/>
          <p:cNvSpPr txBox="1"/>
          <p:nvPr/>
        </p:nvSpPr>
        <p:spPr>
          <a:xfrm>
            <a:off x="6430975" y="3566160"/>
            <a:ext cx="4663440" cy="1371600"/>
          </a:xfrm>
          <a:prstGeom prst="rect">
            <a:avLst/>
          </a:prstGeom>
          <a:noFill/>
        </p:spPr>
        <p:txBody>
          <a:bodyPr wrap="square">
            <a:spAutoFit/>
          </a:bodyPr>
          <a:lstStyle/>
          <a:p>
            <a:pPr>
              <a:spcAft>
                <a:spcPts val="400"/>
              </a:spcAft>
              <a:defRPr sz="1150">
                <a:solidFill>
                  <a:srgbClr val="0F172A"/>
                </a:solidFill>
                <a:latin typeface="Calibri"/>
              </a:defRPr>
            </a:pPr>
            <a:r>
              <a:t>•  Project Supervisor / Faculty Guide: Department of Computer Engg.</a:t>
            </a:r>
          </a:p>
          <a:p>
            <a:pPr>
              <a:spcAft>
                <a:spcPts val="400"/>
              </a:spcAft>
              <a:defRPr sz="1150">
                <a:solidFill>
                  <a:srgbClr val="0F172A"/>
                </a:solidFill>
                <a:latin typeface="Calibri"/>
              </a:defRPr>
            </a:pPr>
            <a:r>
              <a:t>•  Designation: Assistant Professor / Associate Professor</a:t>
            </a:r>
          </a:p>
          <a:p>
            <a:pPr>
              <a:spcAft>
                <a:spcPts val="400"/>
              </a:spcAft>
              <a:defRPr sz="1150">
                <a:solidFill>
                  <a:srgbClr val="0F172A"/>
                </a:solidFill>
                <a:latin typeface="Calibri"/>
              </a:defRPr>
            </a:pPr>
            <a:r>
              <a:t>•  Department: Department of Computer Engg., S.G.S.I.T.S., Indore</a:t>
            </a:r>
          </a:p>
          <a:p>
            <a:pPr>
              <a:spcAft>
                <a:spcPts val="400"/>
              </a:spcAft>
              <a:defRPr sz="1150">
                <a:solidFill>
                  <a:srgbClr val="0F172A"/>
                </a:solidFill>
                <a:latin typeface="Calibri"/>
              </a:defRPr>
            </a:pPr>
            <a:r>
              <a:t>•  Course: Mini Project (Subject Code: CO3xxxx / SEM A)</a:t>
            </a:r>
          </a:p>
        </p:txBody>
      </p:sp>
      <p:sp>
        <p:nvSpPr>
          <p:cNvPr id="12" name="Rounded Rectangle 11"/>
          <p:cNvSpPr/>
          <p:nvPr/>
        </p:nvSpPr>
        <p:spPr>
          <a:xfrm>
            <a:off x="914400" y="5303520"/>
            <a:ext cx="10362895" cy="960120"/>
          </a:xfrm>
          <a:prstGeom prst="roundRect">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6A34A"/>
                </a:solidFill>
                <a:latin typeface="Calibri"/>
              </a:defRPr>
            </a:pPr>
            <a:r>
              <a:t>Key Implementation Technologies in Workspace:</a:t>
            </a:r>
          </a:p>
          <a:p>
            <a:pPr algn="ctr">
              <a:defRPr sz="1100">
                <a:solidFill>
                  <a:srgbClr val="0F172A"/>
                </a:solidFill>
                <a:latin typeface="Calibri"/>
              </a:defRPr>
            </a:pPr>
            <a:r>
              <a:t>Frontend: React 18, Three.js 3D Avatar | Backend: FastAPI &amp; Python | Vision &amp; Audio: OpenCV, OpenAI Whisper | Database: 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PREAMBLE | OVERVIEW (PAGE 1 OF 2)</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PREAMBLE: BACKGROUND, MOTIVATION &amp; STUDENT NEEDS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Why placement interview preparation requires automated, private, and objective feedback.</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2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2962656" cy="365760"/>
          </a:xfrm>
          <a:prstGeom prst="rect">
            <a:avLst/>
          </a:prstGeom>
          <a:noFill/>
        </p:spPr>
        <p:txBody>
          <a:bodyPr wrap="none">
            <a:spAutoFit/>
          </a:bodyPr>
          <a:lstStyle/>
          <a:p>
            <a:pPr>
              <a:defRPr sz="1400" b="1">
                <a:solidFill>
                  <a:srgbClr val="4338CA"/>
                </a:solidFill>
                <a:latin typeface="Calibri"/>
              </a:defRPr>
            </a:pPr>
            <a:r>
              <a:t>1. Project Background</a:t>
            </a:r>
          </a:p>
        </p:txBody>
      </p:sp>
      <p:sp>
        <p:nvSpPr>
          <p:cNvPr id="13" name="TextBox 12"/>
          <p:cNvSpPr txBox="1"/>
          <p:nvPr/>
        </p:nvSpPr>
        <p:spPr>
          <a:xfrm>
            <a:off x="914400"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Campus placement drives are the defining milestone for B.Tech engineering undergraduates.</a:t>
            </a:r>
          </a:p>
          <a:p>
            <a:pPr>
              <a:spcAft>
                <a:spcPts val="1200"/>
              </a:spcAft>
              <a:defRPr sz="1150">
                <a:solidFill>
                  <a:srgbClr val="0F172A"/>
                </a:solidFill>
                <a:latin typeface="Calibri"/>
              </a:defRPr>
            </a:pPr>
            <a:r>
              <a:t>•  Corporate recruiters evaluate candidates within the first 60 seconds of interaction.</a:t>
            </a:r>
          </a:p>
          <a:p>
            <a:pPr>
              <a:spcAft>
                <a:spcPts val="1200"/>
              </a:spcAft>
              <a:defRPr sz="1150">
                <a:solidFill>
                  <a:srgbClr val="0F172A"/>
                </a:solidFill>
                <a:latin typeface="Calibri"/>
              </a:defRPr>
            </a:pPr>
            <a:r>
              <a:t>•  Beyond coding skills, recruiters assess vocal clarity, posture, eye engagement, and confidence.</a:t>
            </a:r>
          </a:p>
          <a:p>
            <a:pPr>
              <a:spcAft>
                <a:spcPts val="1200"/>
              </a:spcAft>
              <a:defRPr sz="1150">
                <a:solidFill>
                  <a:srgbClr val="0F172A"/>
                </a:solidFill>
                <a:latin typeface="Calibri"/>
              </a:defRPr>
            </a:pPr>
            <a:r>
              <a:t>•  Most college students never receive formal, personal communication coaching during their degree.</a:t>
            </a:r>
          </a:p>
        </p:txBody>
      </p:sp>
      <p:sp>
        <p:nvSpPr>
          <p:cNvPr id="14" name="Rounded Rectangle 13"/>
          <p:cNvSpPr/>
          <p:nvPr/>
        </p:nvSpPr>
        <p:spPr>
          <a:xfrm>
            <a:off x="4425696"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47088"/>
            <a:ext cx="2962656" cy="365760"/>
          </a:xfrm>
          <a:prstGeom prst="rect">
            <a:avLst/>
          </a:prstGeom>
          <a:noFill/>
        </p:spPr>
        <p:txBody>
          <a:bodyPr wrap="none">
            <a:spAutoFit/>
          </a:bodyPr>
          <a:lstStyle/>
          <a:p>
            <a:pPr>
              <a:defRPr sz="1400" b="1">
                <a:solidFill>
                  <a:srgbClr val="D97706"/>
                </a:solidFill>
                <a:latin typeface="Calibri"/>
              </a:defRPr>
            </a:pPr>
            <a:r>
              <a:t>2. Student Motivation</a:t>
            </a:r>
          </a:p>
        </p:txBody>
      </p:sp>
      <p:sp>
        <p:nvSpPr>
          <p:cNvPr id="16" name="TextBox 15"/>
          <p:cNvSpPr txBox="1"/>
          <p:nvPr/>
        </p:nvSpPr>
        <p:spPr>
          <a:xfrm>
            <a:off x="4608576"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Interview Fear &amp; Hesitation: Talented students fail placements simply because their hands shake or voice trembles.</a:t>
            </a:r>
          </a:p>
          <a:p>
            <a:pPr>
              <a:spcAft>
                <a:spcPts val="1200"/>
              </a:spcAft>
              <a:defRPr sz="1150">
                <a:solidFill>
                  <a:srgbClr val="0F172A"/>
                </a:solidFill>
                <a:latin typeface="Calibri"/>
              </a:defRPr>
            </a:pPr>
            <a:r>
              <a:t>•  Fear of Peer Judgment: Practicing in front of classmates causes social anxiety and embarrassment.</a:t>
            </a:r>
          </a:p>
          <a:p>
            <a:pPr>
              <a:spcAft>
                <a:spcPts val="1200"/>
              </a:spcAft>
              <a:defRPr sz="1150">
                <a:solidFill>
                  <a:srgbClr val="0F172A"/>
                </a:solidFill>
                <a:latin typeface="Calibri"/>
              </a:defRPr>
            </a:pPr>
            <a:r>
              <a:t>•  Need for a Safe Space: Students need a judgment-free personal tool to rehearse answers at 11 PM in their hostel rooms.</a:t>
            </a:r>
          </a:p>
          <a:p>
            <a:pPr>
              <a:spcAft>
                <a:spcPts val="1200"/>
              </a:spcAft>
              <a:defRPr sz="1150">
                <a:solidFill>
                  <a:srgbClr val="0F172A"/>
                </a:solidFill>
                <a:latin typeface="Calibri"/>
              </a:defRPr>
            </a:pPr>
            <a:r>
              <a:t>•  Confidence is Trainable: Speaking clearly is a learnable skill if given honest, continuous measurement.</a:t>
            </a:r>
          </a:p>
        </p:txBody>
      </p:sp>
      <p:sp>
        <p:nvSpPr>
          <p:cNvPr id="17" name="Rounded Rectangle 16"/>
          <p:cNvSpPr/>
          <p:nvPr/>
        </p:nvSpPr>
        <p:spPr>
          <a:xfrm>
            <a:off x="8119872"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47088"/>
            <a:ext cx="2962656" cy="365760"/>
          </a:xfrm>
          <a:prstGeom prst="rect">
            <a:avLst/>
          </a:prstGeom>
          <a:noFill/>
        </p:spPr>
        <p:txBody>
          <a:bodyPr wrap="none">
            <a:spAutoFit/>
          </a:bodyPr>
          <a:lstStyle/>
          <a:p>
            <a:pPr>
              <a:defRPr sz="1400" b="1">
                <a:solidFill>
                  <a:srgbClr val="16A34A"/>
                </a:solidFill>
                <a:latin typeface="Calibri"/>
              </a:defRPr>
            </a:pPr>
            <a:r>
              <a:t>3. Critical Needs Addressed</a:t>
            </a:r>
          </a:p>
        </p:txBody>
      </p:sp>
      <p:sp>
        <p:nvSpPr>
          <p:cNvPr id="19" name="TextBox 18"/>
          <p:cNvSpPr txBox="1"/>
          <p:nvPr/>
        </p:nvSpPr>
        <p:spPr>
          <a:xfrm>
            <a:off x="8302752"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Affordable Practice: Professional coaching costs Rs. 5,000–15,000; students need a free, web-based tool.</a:t>
            </a:r>
          </a:p>
          <a:p>
            <a:pPr>
              <a:spcAft>
                <a:spcPts val="1200"/>
              </a:spcAft>
              <a:defRPr sz="1150">
                <a:solidFill>
                  <a:srgbClr val="0F172A"/>
                </a:solidFill>
                <a:latin typeface="Calibri"/>
              </a:defRPr>
            </a:pPr>
            <a:r>
              <a:t>•  Zero Extra Hardware: Must run on standard college laptop webcams and microphones.</a:t>
            </a:r>
          </a:p>
          <a:p>
            <a:pPr>
              <a:spcAft>
                <a:spcPts val="1200"/>
              </a:spcAft>
              <a:defRPr sz="1150">
                <a:solidFill>
                  <a:srgbClr val="0F172A"/>
                </a:solidFill>
                <a:latin typeface="Calibri"/>
              </a:defRPr>
            </a:pPr>
            <a:r>
              <a:t>•  Immediate Guidance: Get instant feedback right after a 90-second answer without waiting for an instructor.</a:t>
            </a:r>
          </a:p>
          <a:p>
            <a:pPr>
              <a:spcAft>
                <a:spcPts val="1200"/>
              </a:spcAft>
              <a:defRPr sz="1150">
                <a:solidFill>
                  <a:srgbClr val="0F172A"/>
                </a:solidFill>
                <a:latin typeface="Calibri"/>
              </a:defRPr>
            </a:pPr>
            <a:r>
              <a:t>•  Systematic Tracking: Record progress over weeks so students can visibly watch their delivery improve.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PREAMBLE | OVERVIEW (PAGE 2 OF 2)</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PREAMBLE: TECHNOLOGIES USED, IMPACT &amp; CORE GOALS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How modern web and AI technologies come together to solve personality development challenges.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3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4846320" cy="365760"/>
          </a:xfrm>
          <a:prstGeom prst="rect">
            <a:avLst/>
          </a:prstGeom>
          <a:noFill/>
        </p:spPr>
        <p:txBody>
          <a:bodyPr wrap="none">
            <a:spAutoFit/>
          </a:bodyPr>
          <a:lstStyle/>
          <a:p>
            <a:pPr>
              <a:defRPr sz="1400" b="1">
                <a:solidFill>
                  <a:srgbClr val="4338CA"/>
                </a:solidFill>
                <a:latin typeface="Calibri"/>
              </a:defRPr>
            </a:pPr>
            <a:r>
              <a:t>Technologies Used &amp; Rationale</a:t>
            </a:r>
          </a:p>
        </p:txBody>
      </p:sp>
      <p:sp>
        <p:nvSpPr>
          <p:cNvPr id="13" name="TextBox 12"/>
          <p:cNvSpPr txBox="1"/>
          <p:nvPr/>
        </p:nvSpPr>
        <p:spPr>
          <a:xfrm>
            <a:off x="914400" y="2240280"/>
            <a:ext cx="4846320" cy="3749039"/>
          </a:xfrm>
          <a:prstGeom prst="rect">
            <a:avLst/>
          </a:prstGeom>
          <a:noFill/>
        </p:spPr>
        <p:txBody>
          <a:bodyPr wrap="square">
            <a:spAutoFit/>
          </a:bodyPr>
          <a:lstStyle/>
          <a:p>
            <a:pPr>
              <a:spcAft>
                <a:spcPts val="1000"/>
              </a:spcAft>
              <a:defRPr sz="1150">
                <a:solidFill>
                  <a:srgbClr val="0F172A"/>
                </a:solidFill>
                <a:latin typeface="Calibri"/>
              </a:defRPr>
            </a:pPr>
            <a:r>
              <a:t>•  Frontend (React 18): Fast, reactive user interface with webcam capture and session dashboards.</a:t>
            </a:r>
          </a:p>
          <a:p>
            <a:pPr>
              <a:spcAft>
                <a:spcPts val="1000"/>
              </a:spcAft>
              <a:defRPr sz="1150">
                <a:solidFill>
                  <a:srgbClr val="0F172A"/>
                </a:solidFill>
                <a:latin typeface="Calibri"/>
              </a:defRPr>
            </a:pPr>
            <a:r>
              <a:t>•  Backend (FastAPI &amp; Python 3.10): High-speed asynchronous REST API handling video uploads and calculations.</a:t>
            </a:r>
          </a:p>
          <a:p>
            <a:pPr>
              <a:spcAft>
                <a:spcPts val="1000"/>
              </a:spcAft>
              <a:defRPr sz="1150">
                <a:solidFill>
                  <a:srgbClr val="0F172A"/>
                </a:solidFill>
                <a:latin typeface="Calibri"/>
              </a:defRPr>
            </a:pPr>
            <a:r>
              <a:t>•  Computer Vision (OpenCV): Detects face alignment, centering, and smiling percentage across video frames.</a:t>
            </a:r>
          </a:p>
          <a:p>
            <a:pPr>
              <a:spcAft>
                <a:spcPts val="1000"/>
              </a:spcAft>
              <a:defRPr sz="1150">
                <a:solidFill>
                  <a:srgbClr val="0F172A"/>
                </a:solidFill>
                <a:latin typeface="Calibri"/>
              </a:defRPr>
            </a:pPr>
            <a:r>
              <a:t>•  Speech Processing (OpenAI Whisper): Transcribes audio into text, calculates Words Per Minute (WPM), and counts filler words ('um', 'uh').</a:t>
            </a:r>
          </a:p>
          <a:p>
            <a:pPr>
              <a:spcAft>
                <a:spcPts val="1000"/>
              </a:spcAft>
              <a:defRPr sz="1150">
                <a:solidFill>
                  <a:srgbClr val="0F172A"/>
                </a:solidFill>
                <a:latin typeface="Calibri"/>
              </a:defRPr>
            </a:pPr>
            <a:r>
              <a:t>•  AI Coach (Gemini API &amp; Fallback): Provides friendly, non-judgmental advice tailored to interview questions.</a:t>
            </a:r>
          </a:p>
          <a:p>
            <a:pPr>
              <a:spcAft>
                <a:spcPts val="1000"/>
              </a:spcAft>
              <a:defRPr sz="1150">
                <a:solidFill>
                  <a:srgbClr val="0F172A"/>
                </a:solidFill>
                <a:latin typeface="Calibri"/>
              </a:defRPr>
            </a:pPr>
            <a:r>
              <a:t>•  Database (SQLite): Lightweight, local relational storage for user accounts, session history, and metrics.</a:t>
            </a:r>
          </a:p>
        </p:txBody>
      </p:sp>
      <p:sp>
        <p:nvSpPr>
          <p:cNvPr id="14" name="Rounded Rectangle 13"/>
          <p:cNvSpPr/>
          <p:nvPr/>
        </p:nvSpPr>
        <p:spPr>
          <a:xfrm>
            <a:off x="62179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47088"/>
            <a:ext cx="4846320" cy="365760"/>
          </a:xfrm>
          <a:prstGeom prst="rect">
            <a:avLst/>
          </a:prstGeom>
          <a:noFill/>
        </p:spPr>
        <p:txBody>
          <a:bodyPr wrap="none">
            <a:spAutoFit/>
          </a:bodyPr>
          <a:lstStyle/>
          <a:p>
            <a:pPr>
              <a:defRPr sz="1400" b="1">
                <a:solidFill>
                  <a:srgbClr val="16A34A"/>
                </a:solidFill>
                <a:latin typeface="Calibri"/>
              </a:defRPr>
            </a:pPr>
            <a:r>
              <a:t>Expected Impact &amp; Core Vision</a:t>
            </a:r>
          </a:p>
        </p:txBody>
      </p:sp>
      <p:sp>
        <p:nvSpPr>
          <p:cNvPr id="16" name="TextBox 15"/>
          <p:cNvSpPr txBox="1"/>
          <p:nvPr/>
        </p:nvSpPr>
        <p:spPr>
          <a:xfrm>
            <a:off x="6400800" y="2240280"/>
            <a:ext cx="4846320" cy="3749039"/>
          </a:xfrm>
          <a:prstGeom prst="rect">
            <a:avLst/>
          </a:prstGeom>
          <a:noFill/>
        </p:spPr>
        <p:txBody>
          <a:bodyPr wrap="square">
            <a:spAutoFit/>
          </a:bodyPr>
          <a:lstStyle/>
          <a:p>
            <a:pPr>
              <a:spcAft>
                <a:spcPts val="1000"/>
              </a:spcAft>
              <a:defRPr sz="1150">
                <a:solidFill>
                  <a:srgbClr val="0F172A"/>
                </a:solidFill>
                <a:latin typeface="Calibri"/>
              </a:defRPr>
            </a:pPr>
            <a:r>
              <a:t>•  Democratic Access: Brings interview coaching to every engineering student at S.G.S.I.T.S. without financial barrier.</a:t>
            </a:r>
          </a:p>
          <a:p>
            <a:pPr>
              <a:spcAft>
                <a:spcPts val="1000"/>
              </a:spcAft>
              <a:defRPr sz="1150">
                <a:solidFill>
                  <a:srgbClr val="0F172A"/>
                </a:solidFill>
                <a:latin typeface="Calibri"/>
              </a:defRPr>
            </a:pPr>
            <a:r>
              <a:t>•  Objective vs Subjective: Replaces polite 'you did fine' from friends with exact WPM and filler tallies.</a:t>
            </a:r>
          </a:p>
          <a:p>
            <a:pPr>
              <a:spcAft>
                <a:spcPts val="1000"/>
              </a:spcAft>
              <a:defRPr sz="1150">
                <a:solidFill>
                  <a:srgbClr val="0F172A"/>
                </a:solidFill>
                <a:latin typeface="Calibri"/>
              </a:defRPr>
            </a:pPr>
            <a:r>
              <a:t>•  Stress Reduction: Built-in 4-7-8 breathing exercises and mindset challenges actively lower interview anxiety.</a:t>
            </a:r>
          </a:p>
          <a:p>
            <a:pPr>
              <a:spcAft>
                <a:spcPts val="1000"/>
              </a:spcAft>
              <a:defRPr sz="1150">
                <a:solidFill>
                  <a:srgbClr val="0F172A"/>
                </a:solidFill>
                <a:latin typeface="Calibri"/>
              </a:defRPr>
            </a:pPr>
            <a:r>
              <a:t>•  Measurable Improvement: Enables college placement cells to recommend guided digital practice before drive season.</a:t>
            </a:r>
          </a:p>
          <a:p>
            <a:pPr>
              <a:spcAft>
                <a:spcPts val="1000"/>
              </a:spcAft>
              <a:defRPr sz="1150">
                <a:solidFill>
                  <a:srgbClr val="0F172A"/>
                </a:solidFill>
                <a:latin typeface="Calibri"/>
              </a:defRPr>
            </a:pPr>
            <a:r>
              <a:t>•  Scalable Architecture: Easily hostable on college servers or accessible online from any modern web browser.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PROBLEM STATEMENT</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PROBLEM STATEMENT: THE ISSUE BEING ADDRESSED</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Why traditional student practice methods fail and create placement interview hurdles.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4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10728655" cy="77724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97706"/>
                </a:solidFill>
                <a:latin typeface="Calibri"/>
              </a:defRPr>
            </a:pPr>
            <a:r>
              <a:t>Core Problem Statement:</a:t>
            </a:r>
          </a:p>
          <a:p>
            <a:pPr algn="ctr">
              <a:defRPr sz="1200">
                <a:solidFill>
                  <a:srgbClr val="0F172A"/>
                </a:solidFill>
                <a:latin typeface="Calibri"/>
              </a:defRPr>
            </a:pPr>
            <a:r>
              <a:t>“Engineering students lack accessible, objective, and judgment-free mechanisms to identify and correct communication flaws before placement interviews.”</a:t>
            </a:r>
          </a:p>
        </p:txBody>
      </p:sp>
      <p:sp>
        <p:nvSpPr>
          <p:cNvPr id="12" name="Rounded Rectangle 11"/>
          <p:cNvSpPr/>
          <p:nvPr/>
        </p:nvSpPr>
        <p:spPr>
          <a:xfrm>
            <a:off x="731520" y="2697480"/>
            <a:ext cx="3328416" cy="3474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07208"/>
            <a:ext cx="2962656" cy="365760"/>
          </a:xfrm>
          <a:prstGeom prst="rect">
            <a:avLst/>
          </a:prstGeom>
          <a:noFill/>
        </p:spPr>
        <p:txBody>
          <a:bodyPr wrap="none">
            <a:spAutoFit/>
          </a:bodyPr>
          <a:lstStyle/>
          <a:p>
            <a:pPr>
              <a:defRPr sz="1400" b="1">
                <a:solidFill>
                  <a:srgbClr val="4338CA"/>
                </a:solidFill>
                <a:latin typeface="Calibri"/>
              </a:defRPr>
            </a:pPr>
            <a:r>
              <a:t>1. Unconscious Flaws</a:t>
            </a:r>
          </a:p>
        </p:txBody>
      </p:sp>
      <p:sp>
        <p:nvSpPr>
          <p:cNvPr id="14" name="TextBox 13"/>
          <p:cNvSpPr txBox="1"/>
          <p:nvPr/>
        </p:nvSpPr>
        <p:spPr>
          <a:xfrm>
            <a:off x="914400" y="3200400"/>
            <a:ext cx="2962656" cy="2743200"/>
          </a:xfrm>
          <a:prstGeom prst="rect">
            <a:avLst/>
          </a:prstGeom>
          <a:noFill/>
        </p:spPr>
        <p:txBody>
          <a:bodyPr wrap="square">
            <a:spAutoFit/>
          </a:bodyPr>
          <a:lstStyle/>
          <a:p>
            <a:pPr>
              <a:spcAft>
                <a:spcPts val="1200"/>
              </a:spcAft>
              <a:defRPr sz="1150">
                <a:solidFill>
                  <a:srgbClr val="0F172A"/>
                </a:solidFill>
                <a:latin typeface="Calibri"/>
              </a:defRPr>
            </a:pPr>
            <a:r>
              <a:t>•  Filler Word Repetition: Students say 'um', 'like', 'basically', and 'you know' without realizing it.</a:t>
            </a:r>
          </a:p>
          <a:p>
            <a:pPr>
              <a:spcAft>
                <a:spcPts val="1200"/>
              </a:spcAft>
              <a:defRPr sz="1150">
                <a:solidFill>
                  <a:srgbClr val="0F172A"/>
                </a:solidFill>
                <a:latin typeface="Calibri"/>
              </a:defRPr>
            </a:pPr>
            <a:r>
              <a:t>•  Erratic Speaking Pace: Rushing through technical answers (&gt;165 WPM) or freezing up under pressure.</a:t>
            </a:r>
          </a:p>
          <a:p>
            <a:pPr>
              <a:spcAft>
                <a:spcPts val="1200"/>
              </a:spcAft>
              <a:defRPr sz="1150">
                <a:solidFill>
                  <a:srgbClr val="0F172A"/>
                </a:solidFill>
                <a:latin typeface="Calibri"/>
              </a:defRPr>
            </a:pPr>
            <a:r>
              <a:t>•  Closed Body Posture: Slouching, avoiding camera gaze, or displaying a tense, flat expression.</a:t>
            </a:r>
          </a:p>
        </p:txBody>
      </p:sp>
      <p:sp>
        <p:nvSpPr>
          <p:cNvPr id="15" name="Rounded Rectangle 14"/>
          <p:cNvSpPr/>
          <p:nvPr/>
        </p:nvSpPr>
        <p:spPr>
          <a:xfrm>
            <a:off x="4425696" y="2697480"/>
            <a:ext cx="3328416" cy="3474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6" y="2807208"/>
            <a:ext cx="2962656" cy="365760"/>
          </a:xfrm>
          <a:prstGeom prst="rect">
            <a:avLst/>
          </a:prstGeom>
          <a:noFill/>
        </p:spPr>
        <p:txBody>
          <a:bodyPr wrap="none">
            <a:spAutoFit/>
          </a:bodyPr>
          <a:lstStyle/>
          <a:p>
            <a:pPr>
              <a:defRPr sz="1400" b="1">
                <a:solidFill>
                  <a:srgbClr val="4338CA"/>
                </a:solidFill>
                <a:latin typeface="Calibri"/>
              </a:defRPr>
            </a:pPr>
            <a:r>
              <a:t>2. Mirror Practice Fails</a:t>
            </a:r>
          </a:p>
        </p:txBody>
      </p:sp>
      <p:sp>
        <p:nvSpPr>
          <p:cNvPr id="17" name="TextBox 16"/>
          <p:cNvSpPr txBox="1"/>
          <p:nvPr/>
        </p:nvSpPr>
        <p:spPr>
          <a:xfrm>
            <a:off x="4608576" y="3200400"/>
            <a:ext cx="2962656" cy="2743200"/>
          </a:xfrm>
          <a:prstGeom prst="rect">
            <a:avLst/>
          </a:prstGeom>
          <a:noFill/>
        </p:spPr>
        <p:txBody>
          <a:bodyPr wrap="square">
            <a:spAutoFit/>
          </a:bodyPr>
          <a:lstStyle/>
          <a:p>
            <a:pPr>
              <a:spcAft>
                <a:spcPts val="1200"/>
              </a:spcAft>
              <a:defRPr sz="1150">
                <a:solidFill>
                  <a:srgbClr val="0F172A"/>
                </a:solidFill>
                <a:latin typeface="Calibri"/>
              </a:defRPr>
            </a:pPr>
            <a:r>
              <a:t>•  No Objective Measurement: A mirror cannot count words per minute or tally filler occurrences.</a:t>
            </a:r>
          </a:p>
          <a:p>
            <a:pPr>
              <a:spcAft>
                <a:spcPts val="1200"/>
              </a:spcAft>
              <a:defRPr sz="1150">
                <a:solidFill>
                  <a:srgbClr val="0F172A"/>
                </a:solidFill>
                <a:latin typeface="Calibri"/>
              </a:defRPr>
            </a:pPr>
            <a:r>
              <a:t>•  Unnatural Eye Contact: Looking into your own eyes in a mirror is not equivalent to looking into an interviewer's lens.</a:t>
            </a:r>
          </a:p>
          <a:p>
            <a:pPr>
              <a:spcAft>
                <a:spcPts val="1200"/>
              </a:spcAft>
              <a:defRPr sz="1150">
                <a:solidFill>
                  <a:srgbClr val="0F172A"/>
                </a:solidFill>
                <a:latin typeface="Calibri"/>
              </a:defRPr>
            </a:pPr>
            <a:r>
              <a:t>•  Zero Audio Feedback: A mirror cannot transcribe your speech or score articulation clarity.</a:t>
            </a:r>
          </a:p>
        </p:txBody>
      </p:sp>
      <p:sp>
        <p:nvSpPr>
          <p:cNvPr id="18" name="Rounded Rectangle 17"/>
          <p:cNvSpPr/>
          <p:nvPr/>
        </p:nvSpPr>
        <p:spPr>
          <a:xfrm>
            <a:off x="8119872" y="2697480"/>
            <a:ext cx="3328416" cy="3474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2807208"/>
            <a:ext cx="2962656" cy="365760"/>
          </a:xfrm>
          <a:prstGeom prst="rect">
            <a:avLst/>
          </a:prstGeom>
          <a:noFill/>
        </p:spPr>
        <p:txBody>
          <a:bodyPr wrap="none">
            <a:spAutoFit/>
          </a:bodyPr>
          <a:lstStyle/>
          <a:p>
            <a:pPr>
              <a:defRPr sz="1400" b="1">
                <a:solidFill>
                  <a:srgbClr val="4338CA"/>
                </a:solidFill>
                <a:latin typeface="Calibri"/>
              </a:defRPr>
            </a:pPr>
            <a:r>
              <a:t>3. Social &amp; Cost Barriers</a:t>
            </a:r>
          </a:p>
        </p:txBody>
      </p:sp>
      <p:sp>
        <p:nvSpPr>
          <p:cNvPr id="20" name="TextBox 19"/>
          <p:cNvSpPr txBox="1"/>
          <p:nvPr/>
        </p:nvSpPr>
        <p:spPr>
          <a:xfrm>
            <a:off x="8302752" y="3200400"/>
            <a:ext cx="2962656" cy="2743200"/>
          </a:xfrm>
          <a:prstGeom prst="rect">
            <a:avLst/>
          </a:prstGeom>
          <a:noFill/>
        </p:spPr>
        <p:txBody>
          <a:bodyPr wrap="square">
            <a:spAutoFit/>
          </a:bodyPr>
          <a:lstStyle/>
          <a:p>
            <a:pPr>
              <a:spcAft>
                <a:spcPts val="1200"/>
              </a:spcAft>
              <a:defRPr sz="1150">
                <a:solidFill>
                  <a:srgbClr val="0F172A"/>
                </a:solidFill>
                <a:latin typeface="Calibri"/>
              </a:defRPr>
            </a:pPr>
            <a:r>
              <a:t>•  Fear of Classmate Ridicule: Shy students avoid mock interviews because they fear looking foolish.</a:t>
            </a:r>
          </a:p>
          <a:p>
            <a:pPr>
              <a:spcAft>
                <a:spcPts val="1200"/>
              </a:spcAft>
              <a:defRPr sz="1150">
                <a:solidFill>
                  <a:srgbClr val="0F172A"/>
                </a:solidFill>
                <a:latin typeface="Calibri"/>
              </a:defRPr>
            </a:pPr>
            <a:r>
              <a:t>•  Biased Peer Feedback: Friends say 'you sounded fine' just to avoid hurting feelings.</a:t>
            </a:r>
          </a:p>
          <a:p>
            <a:pPr>
              <a:spcAft>
                <a:spcPts val="1200"/>
              </a:spcAft>
              <a:defRPr sz="1150">
                <a:solidFill>
                  <a:srgbClr val="0F172A"/>
                </a:solidFill>
                <a:latin typeface="Calibri"/>
              </a:defRPr>
            </a:pPr>
            <a:r>
              <a:t>•  Prohibitive Coaching Fees: High institute costs mean the average student gets zero practice before the real drive.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OBJECTIVES</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PROJECT OBJECTIVES: MAIN &amp; SPECIFIC GOALS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Clear, measurable engineering objectives defined for the Mini Project.</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5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4846320" cy="365760"/>
          </a:xfrm>
          <a:prstGeom prst="rect">
            <a:avLst/>
          </a:prstGeom>
          <a:noFill/>
        </p:spPr>
        <p:txBody>
          <a:bodyPr wrap="none">
            <a:spAutoFit/>
          </a:bodyPr>
          <a:lstStyle/>
          <a:p>
            <a:pPr>
              <a:defRPr sz="1400" b="1">
                <a:solidFill>
                  <a:srgbClr val="4338CA"/>
                </a:solidFill>
                <a:latin typeface="Calibri"/>
              </a:defRPr>
            </a:pPr>
            <a:r>
              <a:t>Main Project Objective</a:t>
            </a:r>
          </a:p>
        </p:txBody>
      </p:sp>
      <p:sp>
        <p:nvSpPr>
          <p:cNvPr id="13" name="Rounded Rectangle 12"/>
          <p:cNvSpPr/>
          <p:nvPr/>
        </p:nvSpPr>
        <p:spPr>
          <a:xfrm>
            <a:off x="960120" y="2240280"/>
            <a:ext cx="4754880" cy="1188720"/>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338CA"/>
                </a:solidFill>
                <a:latin typeface="Calibri"/>
              </a:defRPr>
            </a:pPr>
            <a:r>
              <a:t>Primary Goal:</a:t>
            </a:r>
          </a:p>
          <a:p>
            <a:pPr>
              <a:defRPr sz="1100">
                <a:solidFill>
                  <a:srgbClr val="0F172A"/>
                </a:solidFill>
                <a:latin typeface="Calibri"/>
              </a:defRPr>
            </a:pPr>
            <a:r>
              <a:t>To design and implement a web-based, automated multimodal coaching application that evaluates video body language and speech delivery in real-time, outputting an objective 0–100% confidence score with targeted micro-drills.</a:t>
            </a:r>
          </a:p>
        </p:txBody>
      </p:sp>
      <p:sp>
        <p:nvSpPr>
          <p:cNvPr id="14" name="TextBox 13"/>
          <p:cNvSpPr txBox="1"/>
          <p:nvPr/>
        </p:nvSpPr>
        <p:spPr>
          <a:xfrm>
            <a:off x="960120" y="3566160"/>
            <a:ext cx="4754880" cy="2468880"/>
          </a:xfrm>
          <a:prstGeom prst="rect">
            <a:avLst/>
          </a:prstGeom>
          <a:noFill/>
        </p:spPr>
        <p:txBody>
          <a:bodyPr wrap="square">
            <a:spAutoFit/>
          </a:bodyPr>
          <a:lstStyle/>
          <a:p>
            <a:pPr>
              <a:spcAft>
                <a:spcPts val="800"/>
              </a:spcAft>
              <a:defRPr sz="1150">
                <a:solidFill>
                  <a:srgbClr val="0F172A"/>
                </a:solidFill>
                <a:latin typeface="Calibri"/>
              </a:defRPr>
            </a:pPr>
            <a:r>
              <a:t>•  Accessibility: 100% web-based; operates straight in Google Chrome or Edge.</a:t>
            </a:r>
          </a:p>
          <a:p>
            <a:pPr>
              <a:spcAft>
                <a:spcPts val="800"/>
              </a:spcAft>
              <a:defRPr sz="1150">
                <a:solidFill>
                  <a:srgbClr val="0F172A"/>
                </a:solidFill>
                <a:latin typeface="Calibri"/>
              </a:defRPr>
            </a:pPr>
            <a:r>
              <a:t>•  Hardware Independence: Standard laptop webcam and internal microphone.</a:t>
            </a:r>
          </a:p>
          <a:p>
            <a:pPr>
              <a:spcAft>
                <a:spcPts val="800"/>
              </a:spcAft>
              <a:defRPr sz="1150">
                <a:solidFill>
                  <a:srgbClr val="0F172A"/>
                </a:solidFill>
                <a:latin typeface="Calibri"/>
              </a:defRPr>
            </a:pPr>
            <a:r>
              <a:t>•  Privacy: Practice answers are processed locally/privately with zero peer judgment.</a:t>
            </a:r>
          </a:p>
          <a:p>
            <a:pPr>
              <a:spcAft>
                <a:spcPts val="800"/>
              </a:spcAft>
              <a:defRPr sz="1150">
                <a:solidFill>
                  <a:srgbClr val="0F172A"/>
                </a:solidFill>
                <a:latin typeface="Calibri"/>
              </a:defRPr>
            </a:pPr>
            <a:r>
              <a:t>•  Latency: Generate comprehensive feedback within 5–10 seconds of recording.</a:t>
            </a:r>
          </a:p>
        </p:txBody>
      </p:sp>
      <p:sp>
        <p:nvSpPr>
          <p:cNvPr id="15" name="Rounded Rectangle 14"/>
          <p:cNvSpPr/>
          <p:nvPr/>
        </p:nvSpPr>
        <p:spPr>
          <a:xfrm>
            <a:off x="6217920" y="1737360"/>
            <a:ext cx="5242255"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847088"/>
            <a:ext cx="4876495" cy="365760"/>
          </a:xfrm>
          <a:prstGeom prst="rect">
            <a:avLst/>
          </a:prstGeom>
          <a:noFill/>
        </p:spPr>
        <p:txBody>
          <a:bodyPr wrap="none">
            <a:spAutoFit/>
          </a:bodyPr>
          <a:lstStyle/>
          <a:p>
            <a:pPr>
              <a:defRPr sz="1400" b="1">
                <a:solidFill>
                  <a:srgbClr val="16A34A"/>
                </a:solidFill>
                <a:latin typeface="Calibri"/>
              </a:defRPr>
            </a:pPr>
            <a:r>
              <a:t>Specific Technical Goals</a:t>
            </a:r>
          </a:p>
        </p:txBody>
      </p:sp>
      <p:sp>
        <p:nvSpPr>
          <p:cNvPr id="17" name="TextBox 16"/>
          <p:cNvSpPr txBox="1"/>
          <p:nvPr/>
        </p:nvSpPr>
        <p:spPr>
          <a:xfrm>
            <a:off x="6400800" y="2240280"/>
            <a:ext cx="4846320" cy="3840480"/>
          </a:xfrm>
          <a:prstGeom prst="rect">
            <a:avLst/>
          </a:prstGeom>
          <a:noFill/>
        </p:spPr>
        <p:txBody>
          <a:bodyPr wrap="square">
            <a:spAutoFit/>
          </a:bodyPr>
          <a:lstStyle/>
          <a:p>
            <a:pPr>
              <a:spcAft>
                <a:spcPts val="800"/>
              </a:spcAft>
              <a:defRPr sz="1150">
                <a:solidFill>
                  <a:srgbClr val="0F172A"/>
                </a:solidFill>
                <a:latin typeface="Calibri"/>
              </a:defRPr>
            </a:pPr>
            <a:r>
              <a:t>•  Goal 1 (Vision Pipeline): Use OpenCV to track face framing, head straightness, and smile percentage frame-by-frame.</a:t>
            </a:r>
          </a:p>
          <a:p>
            <a:pPr>
              <a:spcAft>
                <a:spcPts val="800"/>
              </a:spcAft>
              <a:defRPr sz="1150">
                <a:solidFill>
                  <a:srgbClr val="0F172A"/>
                </a:solidFill>
                <a:latin typeface="Calibri"/>
              </a:defRPr>
            </a:pPr>
            <a:r>
              <a:t>•  Goal 2 (Speech Pipeline): Use OpenAI Whisper to transcribe audio, compute speaking speed (Words Per Minute), and detect filler words.</a:t>
            </a:r>
          </a:p>
          <a:p>
            <a:pPr>
              <a:spcAft>
                <a:spcPts val="800"/>
              </a:spcAft>
              <a:defRPr sz="1150">
                <a:solidFill>
                  <a:srgbClr val="0F172A"/>
                </a:solidFill>
                <a:latin typeface="Calibri"/>
              </a:defRPr>
            </a:pPr>
            <a:r>
              <a:t>•  Goal 3 (Scoring Algorithm): Develop a weighted 7-parameter formula calculating an overall Confidence Score (0–100%).</a:t>
            </a:r>
          </a:p>
          <a:p>
            <a:pPr>
              <a:spcAft>
                <a:spcPts val="800"/>
              </a:spcAft>
              <a:defRPr sz="1150">
                <a:solidFill>
                  <a:srgbClr val="0F172A"/>
                </a:solidFill>
                <a:latin typeface="Calibri"/>
              </a:defRPr>
            </a:pPr>
            <a:r>
              <a:t>•  Goal 4 (Interactive AI Coach): Provide 1-click advice chips and conversational tips using Gemini API with rule-based fallback.</a:t>
            </a:r>
          </a:p>
          <a:p>
            <a:pPr>
              <a:spcAft>
                <a:spcPts val="800"/>
              </a:spcAft>
              <a:defRPr sz="1150">
                <a:solidFill>
                  <a:srgbClr val="0F172A"/>
                </a:solidFill>
                <a:latin typeface="Calibri"/>
              </a:defRPr>
            </a:pPr>
            <a:r>
              <a:t>•  Goal 5 (Practice Tools): Build an interactive 3D avatar practice companion and anxiety-reducing 4-7-8 breathing exercises.</a:t>
            </a:r>
          </a:p>
          <a:p>
            <a:pPr>
              <a:spcAft>
                <a:spcPts val="800"/>
              </a:spcAft>
              <a:defRPr sz="1150">
                <a:solidFill>
                  <a:srgbClr val="0F172A"/>
                </a:solidFill>
                <a:latin typeface="Calibri"/>
              </a:defRPr>
            </a:pPr>
            <a:r>
              <a:t>•  Goal 6 (Session Storage): Implement SQLite database with user auth and progress history tracking over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LITERATURE REVIEW (PAGE 1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LITERATURE REVIEW: EXISTING STUDIES &amp; TOOLS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Survey of automated communication coaching research and existing commercial tools.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6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2962656" cy="365760"/>
          </a:xfrm>
          <a:prstGeom prst="rect">
            <a:avLst/>
          </a:prstGeom>
          <a:noFill/>
        </p:spPr>
        <p:txBody>
          <a:bodyPr wrap="none">
            <a:spAutoFit/>
          </a:bodyPr>
          <a:lstStyle/>
          <a:p>
            <a:pPr>
              <a:defRPr sz="1400" b="1">
                <a:solidFill>
                  <a:srgbClr val="4338CA"/>
                </a:solidFill>
                <a:latin typeface="Calibri"/>
              </a:defRPr>
            </a:pPr>
            <a:r>
              <a:t>1. Multimodal Coaching Systems</a:t>
            </a:r>
          </a:p>
        </p:txBody>
      </p:sp>
      <p:sp>
        <p:nvSpPr>
          <p:cNvPr id="13" name="TextBox 12"/>
          <p:cNvSpPr txBox="1"/>
          <p:nvPr/>
        </p:nvSpPr>
        <p:spPr>
          <a:xfrm>
            <a:off x="914400"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Prior Work: MIT Media Lab (MACH - My Automated Conversation Coach, 2013) demonstrated that computer agents could help people improve social communication.</a:t>
            </a:r>
          </a:p>
          <a:p>
            <a:pPr>
              <a:spcAft>
                <a:spcPts val="1200"/>
              </a:spcAft>
              <a:defRPr sz="1150">
                <a:solidFill>
                  <a:srgbClr val="0F172A"/>
                </a:solidFill>
                <a:latin typeface="Calibri"/>
              </a:defRPr>
            </a:pPr>
            <a:r>
              <a:t>•  Key Finding: Users practicing with automated systems showed measurable reduction in nervousness and increased speech fluency.</a:t>
            </a:r>
          </a:p>
          <a:p>
            <a:pPr>
              <a:spcAft>
                <a:spcPts val="1200"/>
              </a:spcAft>
              <a:defRPr sz="1150">
                <a:solidFill>
                  <a:srgbClr val="0F172A"/>
                </a:solidFill>
                <a:latin typeface="Calibri"/>
              </a:defRPr>
            </a:pPr>
            <a:r>
              <a:t>•  Constraint of Early Work: Required high-end laboratory setups, specialized sensors, and proprietary hardware unavailable to college students.</a:t>
            </a:r>
          </a:p>
        </p:txBody>
      </p:sp>
      <p:sp>
        <p:nvSpPr>
          <p:cNvPr id="14" name="Rounded Rectangle 13"/>
          <p:cNvSpPr/>
          <p:nvPr/>
        </p:nvSpPr>
        <p:spPr>
          <a:xfrm>
            <a:off x="4425696"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47088"/>
            <a:ext cx="2962656" cy="365760"/>
          </a:xfrm>
          <a:prstGeom prst="rect">
            <a:avLst/>
          </a:prstGeom>
          <a:noFill/>
        </p:spPr>
        <p:txBody>
          <a:bodyPr wrap="none">
            <a:spAutoFit/>
          </a:bodyPr>
          <a:lstStyle/>
          <a:p>
            <a:pPr>
              <a:defRPr sz="1400" b="1">
                <a:solidFill>
                  <a:srgbClr val="4338CA"/>
                </a:solidFill>
                <a:latin typeface="Calibri"/>
              </a:defRPr>
            </a:pPr>
            <a:r>
              <a:t>2. Speech &amp; ASR Advances</a:t>
            </a:r>
          </a:p>
        </p:txBody>
      </p:sp>
      <p:sp>
        <p:nvSpPr>
          <p:cNvPr id="16" name="TextBox 15"/>
          <p:cNvSpPr txBox="1"/>
          <p:nvPr/>
        </p:nvSpPr>
        <p:spPr>
          <a:xfrm>
            <a:off x="4608576"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Prior Work: Radford et al. (OpenAI Whisper, 2022) established robust open-source speech recognition with timestamped word segments.</a:t>
            </a:r>
          </a:p>
          <a:p>
            <a:pPr>
              <a:spcAft>
                <a:spcPts val="1200"/>
              </a:spcAft>
              <a:defRPr sz="1150">
                <a:solidFill>
                  <a:srgbClr val="0F172A"/>
                </a:solidFill>
                <a:latin typeface="Calibri"/>
              </a:defRPr>
            </a:pPr>
            <a:r>
              <a:t>•  Key Finding: Highly accurate ASR allows exact computation of speaking speed (WPM) and precise filler word tracking ('um', 'uh', 'you know').</a:t>
            </a:r>
          </a:p>
          <a:p>
            <a:pPr>
              <a:spcAft>
                <a:spcPts val="1200"/>
              </a:spcAft>
              <a:defRPr sz="1150">
                <a:solidFill>
                  <a:srgbClr val="0F172A"/>
                </a:solidFill>
                <a:latin typeface="Calibri"/>
              </a:defRPr>
            </a:pPr>
            <a:r>
              <a:t>•  Advantage: Open-source models can run locally or via API without ongoing subscription fees.</a:t>
            </a:r>
          </a:p>
        </p:txBody>
      </p:sp>
      <p:sp>
        <p:nvSpPr>
          <p:cNvPr id="17" name="Rounded Rectangle 16"/>
          <p:cNvSpPr/>
          <p:nvPr/>
        </p:nvSpPr>
        <p:spPr>
          <a:xfrm>
            <a:off x="8119872"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47088"/>
            <a:ext cx="2962656" cy="365760"/>
          </a:xfrm>
          <a:prstGeom prst="rect">
            <a:avLst/>
          </a:prstGeom>
          <a:noFill/>
        </p:spPr>
        <p:txBody>
          <a:bodyPr wrap="none">
            <a:spAutoFit/>
          </a:bodyPr>
          <a:lstStyle/>
          <a:p>
            <a:pPr>
              <a:defRPr sz="1400" b="1">
                <a:solidFill>
                  <a:srgbClr val="4338CA"/>
                </a:solidFill>
                <a:latin typeface="Calibri"/>
              </a:defRPr>
            </a:pPr>
            <a:r>
              <a:t>3. Computer Vision in EdTech</a:t>
            </a:r>
          </a:p>
        </p:txBody>
      </p:sp>
      <p:sp>
        <p:nvSpPr>
          <p:cNvPr id="19" name="TextBox 18"/>
          <p:cNvSpPr txBox="1"/>
          <p:nvPr/>
        </p:nvSpPr>
        <p:spPr>
          <a:xfrm>
            <a:off x="8302752"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Prior Work: OpenCV Haar Cascades and MediaPipe frameworks made real-time face detection and pose estimation accessible in consumer browsers.</a:t>
            </a:r>
          </a:p>
          <a:p>
            <a:pPr>
              <a:spcAft>
                <a:spcPts val="1200"/>
              </a:spcAft>
              <a:defRPr sz="1150">
                <a:solidFill>
                  <a:srgbClr val="0F172A"/>
                </a:solidFill>
                <a:latin typeface="Calibri"/>
              </a:defRPr>
            </a:pPr>
            <a:r>
              <a:t>•  Key Finding: Detecting facial framing, smile frequency, and posture orientation correlates strongly with human perception of speaker confidence.</a:t>
            </a:r>
          </a:p>
          <a:p>
            <a:pPr>
              <a:spcAft>
                <a:spcPts val="1200"/>
              </a:spcAft>
              <a:defRPr sz="1150">
                <a:solidFill>
                  <a:srgbClr val="0F172A"/>
                </a:solidFill>
                <a:latin typeface="Calibri"/>
              </a:defRPr>
            </a:pPr>
            <a:r>
              <a:t>•  Practicality: Lightweight enough to execute on student laptops with zero GPU dependency.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LITERATURE REVIEW (PAGE 2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LITERATURE REVIEW: LIMITATIONS OF CURRENT SOLUTIONS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Why existing commercial platforms and traditional methods fail college students.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7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2962656" cy="365760"/>
          </a:xfrm>
          <a:prstGeom prst="rect">
            <a:avLst/>
          </a:prstGeom>
          <a:noFill/>
        </p:spPr>
        <p:txBody>
          <a:bodyPr wrap="none">
            <a:spAutoFit/>
          </a:bodyPr>
          <a:lstStyle/>
          <a:p>
            <a:pPr>
              <a:defRPr sz="1400" b="1">
                <a:solidFill>
                  <a:srgbClr val="D97706"/>
                </a:solidFill>
                <a:latin typeface="Calibri"/>
              </a:defRPr>
            </a:pPr>
            <a:r>
              <a:t>1. Commercial AI Speech Tools</a:t>
            </a:r>
          </a:p>
        </p:txBody>
      </p:sp>
      <p:sp>
        <p:nvSpPr>
          <p:cNvPr id="13" name="TextBox 12"/>
          <p:cNvSpPr txBox="1"/>
          <p:nvPr/>
        </p:nvSpPr>
        <p:spPr>
          <a:xfrm>
            <a:off x="914400"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Examples: Yoodli, Poised, Orai, Speeko.</a:t>
            </a:r>
          </a:p>
          <a:p>
            <a:pPr>
              <a:spcAft>
                <a:spcPts val="1200"/>
              </a:spcAft>
              <a:defRPr sz="1150">
                <a:solidFill>
                  <a:srgbClr val="0F172A"/>
                </a:solidFill>
                <a:latin typeface="Calibri"/>
              </a:defRPr>
            </a:pPr>
            <a:r>
              <a:t>•  Heavy Paywalls: Cost $12–$25 per month, which Indian college students cannot afford.</a:t>
            </a:r>
          </a:p>
          <a:p>
            <a:pPr>
              <a:spcAft>
                <a:spcPts val="1200"/>
              </a:spcAft>
              <a:defRPr sz="1150">
                <a:solidFill>
                  <a:srgbClr val="0F172A"/>
                </a:solidFill>
                <a:latin typeface="Calibri"/>
              </a:defRPr>
            </a:pPr>
            <a:r>
              <a:t>•  Enterprise Focused: Tailored for corporate executives giving board presentations, not campus technical HR rounds.</a:t>
            </a:r>
          </a:p>
          <a:p>
            <a:pPr>
              <a:spcAft>
                <a:spcPts val="1200"/>
              </a:spcAft>
              <a:defRPr sz="1150">
                <a:solidFill>
                  <a:srgbClr val="0F172A"/>
                </a:solidFill>
                <a:latin typeface="Calibri"/>
              </a:defRPr>
            </a:pPr>
            <a:r>
              <a:t>•  Closed Source: Algorithms and data models cannot be inspected, adapted, or extended for academic research.</a:t>
            </a:r>
          </a:p>
        </p:txBody>
      </p:sp>
      <p:sp>
        <p:nvSpPr>
          <p:cNvPr id="14" name="Rounded Rectangle 13"/>
          <p:cNvSpPr/>
          <p:nvPr/>
        </p:nvSpPr>
        <p:spPr>
          <a:xfrm>
            <a:off x="4425696"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47088"/>
            <a:ext cx="2962656" cy="365760"/>
          </a:xfrm>
          <a:prstGeom prst="rect">
            <a:avLst/>
          </a:prstGeom>
          <a:noFill/>
        </p:spPr>
        <p:txBody>
          <a:bodyPr wrap="none">
            <a:spAutoFit/>
          </a:bodyPr>
          <a:lstStyle/>
          <a:p>
            <a:pPr>
              <a:defRPr sz="1400" b="1">
                <a:solidFill>
                  <a:srgbClr val="D97706"/>
                </a:solidFill>
                <a:latin typeface="Calibri"/>
              </a:defRPr>
            </a:pPr>
            <a:r>
              <a:t>2. Asynchronous Interview Bots</a:t>
            </a:r>
          </a:p>
        </p:txBody>
      </p:sp>
      <p:sp>
        <p:nvSpPr>
          <p:cNvPr id="16" name="TextBox 15"/>
          <p:cNvSpPr txBox="1"/>
          <p:nvPr/>
        </p:nvSpPr>
        <p:spPr>
          <a:xfrm>
            <a:off x="4608576"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Examples: HireVue, Talview, modern screening platforms.</a:t>
            </a:r>
          </a:p>
          <a:p>
            <a:pPr>
              <a:spcAft>
                <a:spcPts val="1200"/>
              </a:spcAft>
              <a:defRPr sz="1150">
                <a:solidFill>
                  <a:srgbClr val="0F172A"/>
                </a:solidFill>
                <a:latin typeface="Calibri"/>
              </a:defRPr>
            </a:pPr>
            <a:r>
              <a:t>•  Evaluative, Not Educational: Designed to filter candidates out for companies, not to coach or improve the candidate.</a:t>
            </a:r>
          </a:p>
          <a:p>
            <a:pPr>
              <a:spcAft>
                <a:spcPts val="1200"/>
              </a:spcAft>
              <a:defRPr sz="1150">
                <a:solidFill>
                  <a:srgbClr val="0F172A"/>
                </a:solidFill>
                <a:latin typeface="Calibri"/>
              </a:defRPr>
            </a:pPr>
            <a:r>
              <a:t>•  Black-Box Scoring: Candidates receive no explanation of why they were rejected or what habits to fix.</a:t>
            </a:r>
          </a:p>
          <a:p>
            <a:pPr>
              <a:spcAft>
                <a:spcPts val="1200"/>
              </a:spcAft>
              <a:defRPr sz="1150">
                <a:solidFill>
                  <a:srgbClr val="0F172A"/>
                </a:solidFill>
                <a:latin typeface="Calibri"/>
              </a:defRPr>
            </a:pPr>
            <a:r>
              <a:t>•  High Stress: Increases candidate anxiety rather than offering a safe, repeatable sandbox.</a:t>
            </a:r>
          </a:p>
        </p:txBody>
      </p:sp>
      <p:sp>
        <p:nvSpPr>
          <p:cNvPr id="17" name="Rounded Rectangle 16"/>
          <p:cNvSpPr/>
          <p:nvPr/>
        </p:nvSpPr>
        <p:spPr>
          <a:xfrm>
            <a:off x="8119872"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47088"/>
            <a:ext cx="2962656" cy="365760"/>
          </a:xfrm>
          <a:prstGeom prst="rect">
            <a:avLst/>
          </a:prstGeom>
          <a:noFill/>
        </p:spPr>
        <p:txBody>
          <a:bodyPr wrap="none">
            <a:spAutoFit/>
          </a:bodyPr>
          <a:lstStyle/>
          <a:p>
            <a:pPr>
              <a:defRPr sz="1400" b="1">
                <a:solidFill>
                  <a:srgbClr val="D97706"/>
                </a:solidFill>
                <a:latin typeface="Calibri"/>
              </a:defRPr>
            </a:pPr>
            <a:r>
              <a:t>3. Campus Training Reality</a:t>
            </a:r>
          </a:p>
        </p:txBody>
      </p:sp>
      <p:sp>
        <p:nvSpPr>
          <p:cNvPr id="19" name="TextBox 18"/>
          <p:cNvSpPr txBox="1"/>
          <p:nvPr/>
        </p:nvSpPr>
        <p:spPr>
          <a:xfrm>
            <a:off x="8302752" y="2240280"/>
            <a:ext cx="2962656" cy="3749039"/>
          </a:xfrm>
          <a:prstGeom prst="rect">
            <a:avLst/>
          </a:prstGeom>
          <a:noFill/>
        </p:spPr>
        <p:txBody>
          <a:bodyPr wrap="square">
            <a:spAutoFit/>
          </a:bodyPr>
          <a:lstStyle/>
          <a:p>
            <a:pPr>
              <a:spcAft>
                <a:spcPts val="1200"/>
              </a:spcAft>
              <a:defRPr sz="1150">
                <a:solidFill>
                  <a:srgbClr val="0F172A"/>
                </a:solidFill>
                <a:latin typeface="Calibri"/>
              </a:defRPr>
            </a:pPr>
            <a:r>
              <a:t>•  Limited Faculty Time: One placement officer cannot hold individual 30-minute mock interviews for 500+ students.</a:t>
            </a:r>
          </a:p>
          <a:p>
            <a:pPr>
              <a:spcAft>
                <a:spcPts val="1200"/>
              </a:spcAft>
              <a:defRPr sz="1150">
                <a:solidFill>
                  <a:srgbClr val="0F172A"/>
                </a:solidFill>
                <a:latin typeface="Calibri"/>
              </a:defRPr>
            </a:pPr>
            <a:r>
              <a:t>•  One-Off Sessions: Students get at most 1 mock interview before real campus placement season begins.</a:t>
            </a:r>
          </a:p>
          <a:p>
            <a:pPr>
              <a:spcAft>
                <a:spcPts val="1200"/>
              </a:spcAft>
              <a:defRPr sz="1150">
                <a:solidFill>
                  <a:srgbClr val="0F172A"/>
                </a:solidFill>
                <a:latin typeface="Calibri"/>
              </a:defRPr>
            </a:pPr>
            <a:r>
              <a:t>•  No Muscle Memory: Building speaking confidence requires dozens of short 2-minute daily attempts, not a single annual seminar.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LITERATURE REVIEW (PAGE 3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LITERATURE REVIEW: COMPARATIVE MATRIX &amp; PROPOSED SOLUTION</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Structured comparison demonstrating how Confidence AI addresses existing gaps.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8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10728655"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10362895" cy="365760"/>
          </a:xfrm>
          <a:prstGeom prst="rect">
            <a:avLst/>
          </a:prstGeom>
          <a:noFill/>
        </p:spPr>
        <p:txBody>
          <a:bodyPr wrap="none">
            <a:spAutoFit/>
          </a:bodyPr>
          <a:lstStyle/>
          <a:p>
            <a:pPr>
              <a:defRPr sz="1400" b="1">
                <a:solidFill>
                  <a:srgbClr val="16A34A"/>
                </a:solidFill>
                <a:latin typeface="Calibri"/>
              </a:defRPr>
            </a:pPr>
            <a:r>
              <a:t>How Confidence AI Fills the Gap</a:t>
            </a:r>
          </a:p>
        </p:txBody>
      </p:sp>
      <p:sp>
        <p:nvSpPr>
          <p:cNvPr id="13" name="TextBox 12"/>
          <p:cNvSpPr txBox="1"/>
          <p:nvPr/>
        </p:nvSpPr>
        <p:spPr>
          <a:xfrm>
            <a:off x="914400" y="2148840"/>
            <a:ext cx="10332720" cy="594360"/>
          </a:xfrm>
          <a:prstGeom prst="rect">
            <a:avLst/>
          </a:prstGeom>
          <a:noFill/>
        </p:spPr>
        <p:txBody>
          <a:bodyPr wrap="square">
            <a:spAutoFit/>
          </a:bodyPr>
          <a:lstStyle/>
          <a:p>
            <a:pPr>
              <a:spcAft>
                <a:spcPts val="0"/>
              </a:spcAft>
              <a:defRPr sz="1150">
                <a:solidFill>
                  <a:srgbClr val="0F172A"/>
                </a:solidFill>
                <a:latin typeface="Calibri"/>
              </a:defRPr>
            </a:pPr>
            <a:r>
              <a:t>•  Confidence AI bridges the divide between costly commercial software and ineffective mirror practice by offering a 100% free, open-source, dual-stream web coach specifically tuned for campus placement interview rounds.</a:t>
            </a:r>
          </a:p>
        </p:txBody>
      </p:sp>
      <p:sp>
        <p:nvSpPr>
          <p:cNvPr id="14" name="Rounded Rectangle 13"/>
          <p:cNvSpPr/>
          <p:nvPr/>
        </p:nvSpPr>
        <p:spPr>
          <a:xfrm>
            <a:off x="731520" y="2926080"/>
            <a:ext cx="10728655" cy="3291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035808"/>
            <a:ext cx="10362895" cy="365760"/>
          </a:xfrm>
          <a:prstGeom prst="rect">
            <a:avLst/>
          </a:prstGeom>
          <a:noFill/>
        </p:spPr>
        <p:txBody>
          <a:bodyPr wrap="none">
            <a:spAutoFit/>
          </a:bodyPr>
          <a:lstStyle/>
          <a:p>
            <a:pPr>
              <a:defRPr sz="1400" b="1">
                <a:solidFill>
                  <a:srgbClr val="4338CA"/>
                </a:solidFill>
                <a:latin typeface="Calibri"/>
              </a:defRPr>
            </a:pPr>
            <a:r>
              <a:t>Table: Feature Comparison Matrix</a:t>
            </a:r>
          </a:p>
        </p:txBody>
      </p:sp>
      <p:graphicFrame>
        <p:nvGraphicFramePr>
          <p:cNvPr id="16" name="Table 15"/>
          <p:cNvGraphicFramePr>
            <a:graphicFrameLocks noGrp="1"/>
          </p:cNvGraphicFramePr>
          <p:nvPr/>
        </p:nvGraphicFramePr>
        <p:xfrm>
          <a:off x="914400" y="3383280"/>
          <a:ext cx="10360151" cy="2651760"/>
        </p:xfrm>
        <a:graphic>
          <a:graphicData uri="http://schemas.openxmlformats.org/drawingml/2006/table">
            <a:tbl>
              <a:tblPr firstRow="1" bandRow="1">
                <a:tableStyleId>{5C22544A-7EE6-4342-B048-85BDC9FD1C3A}</a:tableStyleId>
              </a:tblPr>
              <a:tblGrid>
                <a:gridCol w="2103120"/>
                <a:gridCol w="2057400"/>
                <a:gridCol w="2057400"/>
                <a:gridCol w="2057400"/>
                <a:gridCol w="2084831"/>
              </a:tblGrid>
              <a:tr h="530352">
                <a:tc>
                  <a:txBody>
                    <a:bodyPr wrap="square"/>
                    <a:lstStyle/>
                    <a:p>
                      <a:pPr algn="ctr">
                        <a:defRPr sz="1100" b="1">
                          <a:solidFill>
                            <a:srgbClr val="FFFFFF"/>
                          </a:solidFill>
                          <a:latin typeface="Calibri"/>
                        </a:defRPr>
                      </a:pPr>
                      <a:r>
                        <a:t>Evaluation Metric</a:t>
                      </a:r>
                    </a:p>
                  </a:txBody>
                  <a:tcPr anchor="ctr">
                    <a:solidFill>
                      <a:srgbClr val="4338CA"/>
                    </a:solidFill>
                  </a:tcPr>
                </a:tc>
                <a:tc>
                  <a:txBody>
                    <a:bodyPr wrap="square"/>
                    <a:lstStyle/>
                    <a:p>
                      <a:pPr algn="ctr">
                        <a:defRPr sz="1100" b="1">
                          <a:solidFill>
                            <a:srgbClr val="FFFFFF"/>
                          </a:solidFill>
                          <a:latin typeface="Calibri"/>
                        </a:defRPr>
                      </a:pPr>
                      <a:r>
                        <a:t>Mirror Practice</a:t>
                      </a:r>
                    </a:p>
                  </a:txBody>
                  <a:tcPr anchor="ctr">
                    <a:solidFill>
                      <a:srgbClr val="4338CA"/>
                    </a:solidFill>
                  </a:tcPr>
                </a:tc>
                <a:tc>
                  <a:txBody>
                    <a:bodyPr wrap="square"/>
                    <a:lstStyle/>
                    <a:p>
                      <a:pPr algn="ctr">
                        <a:defRPr sz="1100" b="1">
                          <a:solidFill>
                            <a:srgbClr val="FFFFFF"/>
                          </a:solidFill>
                          <a:latin typeface="Calibri"/>
                        </a:defRPr>
                      </a:pPr>
                      <a:r>
                        <a:t>Peer Mock Interview</a:t>
                      </a:r>
                    </a:p>
                  </a:txBody>
                  <a:tcPr anchor="ctr">
                    <a:solidFill>
                      <a:srgbClr val="4338CA"/>
                    </a:solidFill>
                  </a:tcPr>
                </a:tc>
                <a:tc>
                  <a:txBody>
                    <a:bodyPr wrap="square"/>
                    <a:lstStyle/>
                    <a:p>
                      <a:pPr algn="ctr">
                        <a:defRPr sz="1100" b="1">
                          <a:solidFill>
                            <a:srgbClr val="FFFFFF"/>
                          </a:solidFill>
                          <a:latin typeface="Calibri"/>
                        </a:defRPr>
                      </a:pPr>
                      <a:r>
                        <a:t>Commercial Tools</a:t>
                      </a:r>
                    </a:p>
                  </a:txBody>
                  <a:tcPr anchor="ctr">
                    <a:solidFill>
                      <a:srgbClr val="4338CA"/>
                    </a:solidFill>
                  </a:tcPr>
                </a:tc>
                <a:tc>
                  <a:txBody>
                    <a:bodyPr wrap="square"/>
                    <a:lstStyle/>
                    <a:p>
                      <a:pPr algn="ctr">
                        <a:defRPr sz="1100" b="1">
                          <a:solidFill>
                            <a:srgbClr val="FFFFFF"/>
                          </a:solidFill>
                          <a:latin typeface="Calibri"/>
                        </a:defRPr>
                      </a:pPr>
                      <a:r>
                        <a:t>Confidence AI (Ours)</a:t>
                      </a:r>
                    </a:p>
                  </a:txBody>
                  <a:tcPr anchor="ctr">
                    <a:solidFill>
                      <a:srgbClr val="4338CA"/>
                    </a:solidFill>
                  </a:tcPr>
                </a:tc>
              </a:tr>
              <a:tr h="530352">
                <a:tc>
                  <a:txBody>
                    <a:bodyPr wrap="square"/>
                    <a:lstStyle/>
                    <a:p>
                      <a:pPr algn="l">
                        <a:defRPr sz="1050" b="0">
                          <a:solidFill>
                            <a:srgbClr val="0F172A"/>
                          </a:solidFill>
                          <a:latin typeface="Calibri"/>
                        </a:defRPr>
                      </a:pPr>
                      <a:r>
                        <a:t>Speaking Pace (WPM)</a:t>
                      </a:r>
                    </a:p>
                  </a:txBody>
                  <a:tcPr anchor="ctr">
                    <a:solidFill>
                      <a:srgbClr val="EEF2FF"/>
                    </a:solidFill>
                  </a:tcPr>
                </a:tc>
                <a:tc>
                  <a:txBody>
                    <a:bodyPr wrap="square"/>
                    <a:lstStyle/>
                    <a:p>
                      <a:pPr algn="ctr">
                        <a:defRPr sz="1050" b="0">
                          <a:solidFill>
                            <a:srgbClr val="0F172A"/>
                          </a:solidFill>
                          <a:latin typeface="Calibri"/>
                        </a:defRPr>
                      </a:pPr>
                      <a:r>
                        <a:t>Cannot measure</a:t>
                      </a:r>
                    </a:p>
                  </a:txBody>
                  <a:tcPr anchor="ctr">
                    <a:solidFill>
                      <a:srgbClr val="EEF2FF"/>
                    </a:solidFill>
                  </a:tcPr>
                </a:tc>
                <a:tc>
                  <a:txBody>
                    <a:bodyPr wrap="square"/>
                    <a:lstStyle/>
                    <a:p>
                      <a:pPr algn="ctr">
                        <a:defRPr sz="1050" b="0">
                          <a:solidFill>
                            <a:srgbClr val="0F172A"/>
                          </a:solidFill>
                          <a:latin typeface="Calibri"/>
                        </a:defRPr>
                      </a:pPr>
                      <a:r>
                        <a:t>Vague estimation</a:t>
                      </a:r>
                    </a:p>
                  </a:txBody>
                  <a:tcPr anchor="ctr">
                    <a:solidFill>
                      <a:srgbClr val="EEF2FF"/>
                    </a:solidFill>
                  </a:tcPr>
                </a:tc>
                <a:tc>
                  <a:txBody>
                    <a:bodyPr wrap="square"/>
                    <a:lstStyle/>
                    <a:p>
                      <a:pPr algn="ctr">
                        <a:defRPr sz="1050" b="0">
                          <a:solidFill>
                            <a:srgbClr val="0F172A"/>
                          </a:solidFill>
                          <a:latin typeface="Calibri"/>
                        </a:defRPr>
                      </a:pPr>
                      <a:r>
                        <a:t>Available behind paywall</a:t>
                      </a:r>
                    </a:p>
                  </a:txBody>
                  <a:tcPr anchor="ctr">
                    <a:solidFill>
                      <a:srgbClr val="EEF2FF"/>
                    </a:solidFill>
                  </a:tcPr>
                </a:tc>
                <a:tc>
                  <a:txBody>
                    <a:bodyPr wrap="square"/>
                    <a:lstStyle/>
                    <a:p>
                      <a:pPr algn="ctr">
                        <a:defRPr sz="1050" b="1">
                          <a:solidFill>
                            <a:srgbClr val="16A34A"/>
                          </a:solidFill>
                          <a:latin typeface="Calibri"/>
                        </a:defRPr>
                      </a:pPr>
                      <a:r>
                        <a:t>Automated WPM calculation</a:t>
                      </a:r>
                    </a:p>
                  </a:txBody>
                  <a:tcPr anchor="ctr">
                    <a:solidFill>
                      <a:srgbClr val="F0FDF4"/>
                    </a:solidFill>
                  </a:tcPr>
                </a:tc>
              </a:tr>
              <a:tr h="530352">
                <a:tc>
                  <a:txBody>
                    <a:bodyPr wrap="square"/>
                    <a:lstStyle/>
                    <a:p>
                      <a:pPr algn="l">
                        <a:defRPr sz="1050" b="0">
                          <a:solidFill>
                            <a:srgbClr val="0F172A"/>
                          </a:solidFill>
                          <a:latin typeface="Calibri"/>
                        </a:defRPr>
                      </a:pPr>
                      <a:r>
                        <a:t>Filler Word Tracking</a:t>
                      </a:r>
                    </a:p>
                  </a:txBody>
                  <a:tcPr anchor="ctr">
                    <a:solidFill>
                      <a:srgbClr val="FFFFFF"/>
                    </a:solidFill>
                  </a:tcPr>
                </a:tc>
                <a:tc>
                  <a:txBody>
                    <a:bodyPr wrap="square"/>
                    <a:lstStyle/>
                    <a:p>
                      <a:pPr algn="ctr">
                        <a:defRPr sz="1050" b="0">
                          <a:solidFill>
                            <a:srgbClr val="0F172A"/>
                          </a:solidFill>
                          <a:latin typeface="Calibri"/>
                        </a:defRPr>
                      </a:pPr>
                      <a:r>
                        <a:t>Zero tracking</a:t>
                      </a:r>
                    </a:p>
                  </a:txBody>
                  <a:tcPr anchor="ctr">
                    <a:solidFill>
                      <a:srgbClr val="FFFFFF"/>
                    </a:solidFill>
                  </a:tcPr>
                </a:tc>
                <a:tc>
                  <a:txBody>
                    <a:bodyPr wrap="square"/>
                    <a:lstStyle/>
                    <a:p>
                      <a:pPr algn="ctr">
                        <a:defRPr sz="1050" b="0">
                          <a:solidFill>
                            <a:srgbClr val="0F172A"/>
                          </a:solidFill>
                          <a:latin typeface="Calibri"/>
                        </a:defRPr>
                      </a:pPr>
                      <a:r>
                        <a:t>Often missed by friends</a:t>
                      </a:r>
                    </a:p>
                  </a:txBody>
                  <a:tcPr anchor="ctr">
                    <a:solidFill>
                      <a:srgbClr val="FFFFFF"/>
                    </a:solidFill>
                  </a:tcPr>
                </a:tc>
                <a:tc>
                  <a:txBody>
                    <a:bodyPr wrap="square"/>
                    <a:lstStyle/>
                    <a:p>
                      <a:pPr algn="ctr">
                        <a:defRPr sz="1050" b="0">
                          <a:solidFill>
                            <a:srgbClr val="0F172A"/>
                          </a:solidFill>
                          <a:latin typeface="Calibri"/>
                        </a:defRPr>
                      </a:pPr>
                      <a:r>
                        <a:t>Paid tier only</a:t>
                      </a:r>
                    </a:p>
                  </a:txBody>
                  <a:tcPr anchor="ctr">
                    <a:solidFill>
                      <a:srgbClr val="FFFFFF"/>
                    </a:solidFill>
                  </a:tcPr>
                </a:tc>
                <a:tc>
                  <a:txBody>
                    <a:bodyPr wrap="square"/>
                    <a:lstStyle/>
                    <a:p>
                      <a:pPr algn="ctr">
                        <a:defRPr sz="1050" b="1">
                          <a:solidFill>
                            <a:srgbClr val="16A34A"/>
                          </a:solidFill>
                          <a:latin typeface="Calibri"/>
                        </a:defRPr>
                      </a:pPr>
                      <a:r>
                        <a:t>Instant count ('um', 'uh', 'like')</a:t>
                      </a:r>
                    </a:p>
                  </a:txBody>
                  <a:tcPr anchor="ctr">
                    <a:solidFill>
                      <a:srgbClr val="F0FDF4"/>
                    </a:solidFill>
                  </a:tcPr>
                </a:tc>
              </a:tr>
              <a:tr h="530352">
                <a:tc>
                  <a:txBody>
                    <a:bodyPr wrap="square"/>
                    <a:lstStyle/>
                    <a:p>
                      <a:pPr algn="l">
                        <a:defRPr sz="1050" b="0">
                          <a:solidFill>
                            <a:srgbClr val="0F172A"/>
                          </a:solidFill>
                          <a:latin typeface="Calibri"/>
                        </a:defRPr>
                      </a:pPr>
                      <a:r>
                        <a:t>Face &amp; Posture Analysis</a:t>
                      </a:r>
                    </a:p>
                  </a:txBody>
                  <a:tcPr anchor="ctr">
                    <a:solidFill>
                      <a:srgbClr val="EEF2FF"/>
                    </a:solidFill>
                  </a:tcPr>
                </a:tc>
                <a:tc>
                  <a:txBody>
                    <a:bodyPr wrap="square"/>
                    <a:lstStyle/>
                    <a:p>
                      <a:pPr algn="ctr">
                        <a:defRPr sz="1050" b="0">
                          <a:solidFill>
                            <a:srgbClr val="0F172A"/>
                          </a:solidFill>
                          <a:latin typeface="Calibri"/>
                        </a:defRPr>
                      </a:pPr>
                      <a:r>
                        <a:t>Unreliable self-gaze</a:t>
                      </a:r>
                    </a:p>
                  </a:txBody>
                  <a:tcPr anchor="ctr">
                    <a:solidFill>
                      <a:srgbClr val="EEF2FF"/>
                    </a:solidFill>
                  </a:tcPr>
                </a:tc>
                <a:tc>
                  <a:txBody>
                    <a:bodyPr wrap="square"/>
                    <a:lstStyle/>
                    <a:p>
                      <a:pPr algn="ctr">
                        <a:defRPr sz="1050" b="0">
                          <a:solidFill>
                            <a:srgbClr val="0F172A"/>
                          </a:solidFill>
                          <a:latin typeface="Calibri"/>
                        </a:defRPr>
                      </a:pPr>
                      <a:r>
                        <a:t>Inconsistent feedback</a:t>
                      </a:r>
                    </a:p>
                  </a:txBody>
                  <a:tcPr anchor="ctr">
                    <a:solidFill>
                      <a:srgbClr val="EEF2FF"/>
                    </a:solidFill>
                  </a:tcPr>
                </a:tc>
                <a:tc>
                  <a:txBody>
                    <a:bodyPr wrap="square"/>
                    <a:lstStyle/>
                    <a:p>
                      <a:pPr algn="ctr">
                        <a:defRPr sz="1050" b="0">
                          <a:solidFill>
                            <a:srgbClr val="0F172A"/>
                          </a:solidFill>
                          <a:latin typeface="Calibri"/>
                        </a:defRPr>
                      </a:pPr>
                      <a:r>
                        <a:t>Video disabled in many</a:t>
                      </a:r>
                    </a:p>
                  </a:txBody>
                  <a:tcPr anchor="ctr">
                    <a:solidFill>
                      <a:srgbClr val="EEF2FF"/>
                    </a:solidFill>
                  </a:tcPr>
                </a:tc>
                <a:tc>
                  <a:txBody>
                    <a:bodyPr wrap="square"/>
                    <a:lstStyle/>
                    <a:p>
                      <a:pPr algn="ctr">
                        <a:defRPr sz="1050" b="1">
                          <a:solidFill>
                            <a:srgbClr val="16A34A"/>
                          </a:solidFill>
                          <a:latin typeface="Calibri"/>
                        </a:defRPr>
                      </a:pPr>
                      <a:r>
                        <a:t>OpenCV vision frame analysis</a:t>
                      </a:r>
                    </a:p>
                  </a:txBody>
                  <a:tcPr anchor="ctr">
                    <a:solidFill>
                      <a:srgbClr val="F0FDF4"/>
                    </a:solidFill>
                  </a:tcPr>
                </a:tc>
              </a:tr>
              <a:tr h="530352">
                <a:tc>
                  <a:txBody>
                    <a:bodyPr wrap="square"/>
                    <a:lstStyle/>
                    <a:p>
                      <a:pPr algn="l">
                        <a:defRPr sz="1050" b="0">
                          <a:solidFill>
                            <a:srgbClr val="0F172A"/>
                          </a:solidFill>
                          <a:latin typeface="Calibri"/>
                        </a:defRPr>
                      </a:pPr>
                      <a:r>
                        <a:t>Cost &amp; Accessibility</a:t>
                      </a:r>
                    </a:p>
                  </a:txBody>
                  <a:tcPr anchor="ctr">
                    <a:solidFill>
                      <a:srgbClr val="FFFFFF"/>
                    </a:solidFill>
                  </a:tcPr>
                </a:tc>
                <a:tc>
                  <a:txBody>
                    <a:bodyPr wrap="square"/>
                    <a:lstStyle/>
                    <a:p>
                      <a:pPr algn="ctr">
                        <a:defRPr sz="1050" b="0">
                          <a:solidFill>
                            <a:srgbClr val="0F172A"/>
                          </a:solidFill>
                          <a:latin typeface="Calibri"/>
                        </a:defRPr>
                      </a:pPr>
                      <a:r>
                        <a:t>Free, but useless</a:t>
                      </a:r>
                    </a:p>
                  </a:txBody>
                  <a:tcPr anchor="ctr">
                    <a:solidFill>
                      <a:srgbClr val="FFFFFF"/>
                    </a:solidFill>
                  </a:tcPr>
                </a:tc>
                <a:tc>
                  <a:txBody>
                    <a:bodyPr wrap="square"/>
                    <a:lstStyle/>
                    <a:p>
                      <a:pPr algn="ctr">
                        <a:defRPr sz="1050" b="0">
                          <a:solidFill>
                            <a:srgbClr val="0F172A"/>
                          </a:solidFill>
                          <a:latin typeface="Calibri"/>
                        </a:defRPr>
                      </a:pPr>
                      <a:r>
                        <a:t>Free, but irregular</a:t>
                      </a:r>
                    </a:p>
                  </a:txBody>
                  <a:tcPr anchor="ctr">
                    <a:solidFill>
                      <a:srgbClr val="FFFFFF"/>
                    </a:solidFill>
                  </a:tcPr>
                </a:tc>
                <a:tc>
                  <a:txBody>
                    <a:bodyPr wrap="square"/>
                    <a:lstStyle/>
                    <a:p>
                      <a:pPr algn="ctr">
                        <a:defRPr sz="1050" b="0">
                          <a:solidFill>
                            <a:srgbClr val="0F172A"/>
                          </a:solidFill>
                          <a:latin typeface="Calibri"/>
                        </a:defRPr>
                      </a:pPr>
                      <a:r>
                        <a:t>Paid ($15–$25/month)</a:t>
                      </a:r>
                    </a:p>
                  </a:txBody>
                  <a:tcPr anchor="ctr">
                    <a:solidFill>
                      <a:srgbClr val="FFFFFF"/>
                    </a:solidFill>
                  </a:tcPr>
                </a:tc>
                <a:tc>
                  <a:txBody>
                    <a:bodyPr wrap="square"/>
                    <a:lstStyle/>
                    <a:p>
                      <a:pPr algn="ctr">
                        <a:defRPr sz="1050" b="1">
                          <a:solidFill>
                            <a:srgbClr val="16A34A"/>
                          </a:solidFill>
                          <a:latin typeface="Calibri"/>
                        </a:defRPr>
                      </a:pPr>
                      <a:r>
                        <a:t>100% Free &amp; Open-Source</a:t>
                      </a:r>
                    </a:p>
                  </a:txBody>
                  <a:tcPr anchor="ctr">
                    <a:solidFill>
                      <a:srgbClr val="F0FDF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METHODOLOGY</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METHODOLOGY: SYSTEM ARCHITECTURE &amp; EXECUTION FLOW</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Technical methodology showing how data moves from user webcam to AI scoring and output.</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9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10728655" cy="1188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10362895" cy="365760"/>
          </a:xfrm>
          <a:prstGeom prst="rect">
            <a:avLst/>
          </a:prstGeom>
          <a:noFill/>
        </p:spPr>
        <p:txBody>
          <a:bodyPr wrap="none">
            <a:spAutoFit/>
          </a:bodyPr>
          <a:lstStyle/>
          <a:p>
            <a:pPr>
              <a:defRPr sz="1400" b="1">
                <a:solidFill>
                  <a:srgbClr val="4338CA"/>
                </a:solidFill>
                <a:latin typeface="Calibri"/>
              </a:defRPr>
            </a:pPr>
            <a:r>
              <a:t>Step 1: Client Ingestion (React 18 Frontend)</a:t>
            </a:r>
          </a:p>
        </p:txBody>
      </p:sp>
      <p:sp>
        <p:nvSpPr>
          <p:cNvPr id="13" name="TextBox 12"/>
          <p:cNvSpPr txBox="1"/>
          <p:nvPr/>
        </p:nvSpPr>
        <p:spPr>
          <a:xfrm>
            <a:off x="914400" y="2148840"/>
            <a:ext cx="10362895" cy="685800"/>
          </a:xfrm>
          <a:prstGeom prst="rect">
            <a:avLst/>
          </a:prstGeom>
          <a:noFill/>
        </p:spPr>
        <p:txBody>
          <a:bodyPr wrap="square">
            <a:spAutoFit/>
          </a:bodyPr>
          <a:lstStyle/>
          <a:p>
            <a:pPr>
              <a:spcAft>
                <a:spcPts val="200"/>
              </a:spcAft>
              <a:defRPr sz="1100">
                <a:solidFill>
                  <a:srgbClr val="0F172A"/>
                </a:solidFill>
                <a:latin typeface="Calibri"/>
              </a:defRPr>
            </a:pPr>
            <a:r>
              <a:t>•  • Student selects practice question or self-introduction prompt.</a:t>
            </a:r>
          </a:p>
          <a:p>
            <a:pPr>
              <a:spcAft>
                <a:spcPts val="200"/>
              </a:spcAft>
              <a:defRPr sz="1100">
                <a:solidFill>
                  <a:srgbClr val="0F172A"/>
                </a:solidFill>
                <a:latin typeface="Calibri"/>
              </a:defRPr>
            </a:pPr>
            <a:r>
              <a:t>•  • Records 1 to 2 minute webcam video directly in browser (MediaRecorder API) or uploads pre-recorded .mp4/.webm file.</a:t>
            </a:r>
          </a:p>
          <a:p>
            <a:pPr>
              <a:spcAft>
                <a:spcPts val="200"/>
              </a:spcAft>
              <a:defRPr sz="1100">
                <a:solidFill>
                  <a:srgbClr val="0F172A"/>
                </a:solidFill>
                <a:latin typeface="Calibri"/>
              </a:defRPr>
            </a:pPr>
            <a:r>
              <a:t>•  • Sends multi-part video payload to FastAPI backend via asynchronous POST /analyze request.</a:t>
            </a:r>
          </a:p>
        </p:txBody>
      </p:sp>
      <p:sp>
        <p:nvSpPr>
          <p:cNvPr id="14" name="TextBox 13"/>
          <p:cNvSpPr txBox="1"/>
          <p:nvPr/>
        </p:nvSpPr>
        <p:spPr>
          <a:xfrm>
            <a:off x="4114800" y="2944368"/>
            <a:ext cx="3962095" cy="320040"/>
          </a:xfrm>
          <a:prstGeom prst="rect">
            <a:avLst/>
          </a:prstGeom>
          <a:noFill/>
        </p:spPr>
        <p:txBody>
          <a:bodyPr wrap="none">
            <a:spAutoFit/>
          </a:bodyPr>
          <a:lstStyle/>
          <a:p>
            <a:pPr algn="ctr">
              <a:defRPr sz="1100" b="1">
                <a:solidFill>
                  <a:srgbClr val="4338CA"/>
                </a:solidFill>
                <a:latin typeface="Calibri"/>
              </a:defRPr>
            </a:pPr>
            <a:r>
              <a:t>⬇   REST API /analyze (FastAPI on Port 8000)   ⬇</a:t>
            </a:r>
          </a:p>
        </p:txBody>
      </p:sp>
      <p:sp>
        <p:nvSpPr>
          <p:cNvPr id="15" name="Rounded Rectangle 14"/>
          <p:cNvSpPr/>
          <p:nvPr/>
        </p:nvSpPr>
        <p:spPr>
          <a:xfrm>
            <a:off x="731520" y="3291840"/>
            <a:ext cx="10728655" cy="16916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01568"/>
            <a:ext cx="10362895" cy="365760"/>
          </a:xfrm>
          <a:prstGeom prst="rect">
            <a:avLst/>
          </a:prstGeom>
          <a:noFill/>
        </p:spPr>
        <p:txBody>
          <a:bodyPr wrap="none">
            <a:spAutoFit/>
          </a:bodyPr>
          <a:lstStyle/>
          <a:p>
            <a:pPr>
              <a:defRPr sz="1400" b="1">
                <a:solidFill>
                  <a:srgbClr val="4338CA"/>
                </a:solidFill>
                <a:latin typeface="Calibri"/>
              </a:defRPr>
            </a:pPr>
            <a:r>
              <a:t>Step 2: Dual-Stream Analysis Pipeline (Python Backend)</a:t>
            </a:r>
          </a:p>
        </p:txBody>
      </p:sp>
      <p:sp>
        <p:nvSpPr>
          <p:cNvPr id="17" name="Rounded Rectangle 16"/>
          <p:cNvSpPr/>
          <p:nvPr/>
        </p:nvSpPr>
        <p:spPr>
          <a:xfrm>
            <a:off x="914400" y="3749039"/>
            <a:ext cx="5120640" cy="109728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338CA"/>
                </a:solidFill>
                <a:latin typeface="Calibri"/>
              </a:defRPr>
            </a:pPr>
            <a:r>
              <a:t>Visual Stream (OpenCV Haar Cascades)</a:t>
            </a:r>
          </a:p>
          <a:p>
            <a:pPr>
              <a:defRPr sz="1050">
                <a:solidFill>
                  <a:srgbClr val="0F172A"/>
                </a:solidFill>
                <a:latin typeface="Calibri"/>
              </a:defRPr>
            </a:pPr>
            <a:r>
              <a:t>• Face Detection &amp; Centering  • Smile Expression Detection</a:t>
            </a:r>
            <a:br/>
            <a:r>
              <a:t>• Head Straightness  • Upright Posture Stability</a:t>
            </a:r>
          </a:p>
        </p:txBody>
      </p:sp>
      <p:sp>
        <p:nvSpPr>
          <p:cNvPr id="18" name="Rounded Rectangle 17"/>
          <p:cNvSpPr/>
          <p:nvPr/>
        </p:nvSpPr>
        <p:spPr>
          <a:xfrm>
            <a:off x="6217920" y="3749039"/>
            <a:ext cx="5120640" cy="109728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4338CA"/>
                </a:solidFill>
                <a:latin typeface="Calibri"/>
              </a:defRPr>
            </a:pPr>
            <a:r>
              <a:t>Audio Stream (MoviePy + OpenAI Whisper)</a:t>
            </a:r>
          </a:p>
          <a:p>
            <a:pPr>
              <a:defRPr sz="1050">
                <a:solidFill>
                  <a:srgbClr val="0F172A"/>
                </a:solidFill>
                <a:latin typeface="Calibri"/>
              </a:defRPr>
            </a:pPr>
            <a:r>
              <a:t>• Audio Track Separation (.wav)  • Speech-to-Text Transcription</a:t>
            </a:r>
            <a:br/>
            <a:r>
              <a:t>• Filler Word Frequency Count  • Words Per Minute (WPM) Pace</a:t>
            </a:r>
          </a:p>
        </p:txBody>
      </p:sp>
      <p:sp>
        <p:nvSpPr>
          <p:cNvPr id="19" name="TextBox 18"/>
          <p:cNvSpPr txBox="1"/>
          <p:nvPr/>
        </p:nvSpPr>
        <p:spPr>
          <a:xfrm>
            <a:off x="4114800" y="5010912"/>
            <a:ext cx="3962095" cy="320040"/>
          </a:xfrm>
          <a:prstGeom prst="rect">
            <a:avLst/>
          </a:prstGeom>
          <a:noFill/>
        </p:spPr>
        <p:txBody>
          <a:bodyPr wrap="none">
            <a:spAutoFit/>
          </a:bodyPr>
          <a:lstStyle/>
          <a:p>
            <a:pPr algn="ctr">
              <a:defRPr sz="1100" b="1">
                <a:solidFill>
                  <a:srgbClr val="16A34A"/>
                </a:solidFill>
                <a:latin typeface="Calibri"/>
              </a:defRPr>
            </a:pPr>
            <a:r>
              <a:t>⬇   Weighted Scoring Formula &amp; SQLite Persistence   ⬇</a:t>
            </a:r>
          </a:p>
        </p:txBody>
      </p:sp>
      <p:sp>
        <p:nvSpPr>
          <p:cNvPr id="20" name="Rounded Rectangle 19"/>
          <p:cNvSpPr/>
          <p:nvPr/>
        </p:nvSpPr>
        <p:spPr>
          <a:xfrm>
            <a:off x="731520" y="5349240"/>
            <a:ext cx="10728655"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458968"/>
            <a:ext cx="10362895" cy="365760"/>
          </a:xfrm>
          <a:prstGeom prst="rect">
            <a:avLst/>
          </a:prstGeom>
          <a:noFill/>
        </p:spPr>
        <p:txBody>
          <a:bodyPr wrap="none">
            <a:spAutoFit/>
          </a:bodyPr>
          <a:lstStyle/>
          <a:p>
            <a:pPr>
              <a:defRPr sz="1400" b="1">
                <a:solidFill>
                  <a:srgbClr val="16A34A"/>
                </a:solidFill>
                <a:latin typeface="Calibri"/>
              </a:defRPr>
            </a:pPr>
            <a:r>
              <a:t>Step 3: Confidence Scoring &amp; Actionable Output</a:t>
            </a:r>
          </a:p>
        </p:txBody>
      </p:sp>
      <p:sp>
        <p:nvSpPr>
          <p:cNvPr id="22" name="TextBox 21"/>
          <p:cNvSpPr txBox="1"/>
          <p:nvPr/>
        </p:nvSpPr>
        <p:spPr>
          <a:xfrm>
            <a:off x="914400" y="5715000"/>
            <a:ext cx="10362895" cy="502920"/>
          </a:xfrm>
          <a:prstGeom prst="rect">
            <a:avLst/>
          </a:prstGeom>
          <a:noFill/>
        </p:spPr>
        <p:txBody>
          <a:bodyPr wrap="square">
            <a:spAutoFit/>
          </a:bodyPr>
          <a:lstStyle/>
          <a:p>
            <a:pPr>
              <a:spcAft>
                <a:spcPts val="0"/>
              </a:spcAft>
              <a:defRPr sz="1100">
                <a:solidFill>
                  <a:srgbClr val="0F172A"/>
                </a:solidFill>
                <a:latin typeface="Calibri"/>
              </a:defRPr>
            </a:pPr>
            <a:r>
              <a:t>•  • Computes Composite Score (0.16·Face + 0.12·Posture + 0.10·Smile + 0.22·Speech + 0.18·Eye + Penalties)  ➔  Stored in SQLite  ➔  Dashboard Display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WORK PLAN (PAGE 1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WORK PLAN: TEAM WORK DISTRIBUTION &amp; MODULE BREAKDOWN</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Clear division of engineering responsibilities among project team members.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10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2962656" cy="365760"/>
          </a:xfrm>
          <a:prstGeom prst="rect">
            <a:avLst/>
          </a:prstGeom>
          <a:noFill/>
        </p:spPr>
        <p:txBody>
          <a:bodyPr wrap="none">
            <a:spAutoFit/>
          </a:bodyPr>
          <a:lstStyle/>
          <a:p>
            <a:pPr>
              <a:defRPr sz="1400" b="1">
                <a:solidFill>
                  <a:srgbClr val="4338CA"/>
                </a:solidFill>
                <a:latin typeface="Calibri"/>
              </a:defRPr>
            </a:pPr>
            <a:r>
              <a:t>Module 1: Frontend &amp; UI/UX</a:t>
            </a:r>
          </a:p>
        </p:txBody>
      </p:sp>
      <p:sp>
        <p:nvSpPr>
          <p:cNvPr id="13" name="TextBox 12"/>
          <p:cNvSpPr txBox="1"/>
          <p:nvPr/>
        </p:nvSpPr>
        <p:spPr>
          <a:xfrm>
            <a:off x="914400" y="2240280"/>
            <a:ext cx="2962656" cy="3749039"/>
          </a:xfrm>
          <a:prstGeom prst="rect">
            <a:avLst/>
          </a:prstGeom>
          <a:noFill/>
        </p:spPr>
        <p:txBody>
          <a:bodyPr wrap="square">
            <a:spAutoFit/>
          </a:bodyPr>
          <a:lstStyle/>
          <a:p>
            <a:pPr>
              <a:spcAft>
                <a:spcPts val="800"/>
              </a:spcAft>
              <a:defRPr sz="1100">
                <a:solidFill>
                  <a:srgbClr val="0F172A"/>
                </a:solidFill>
                <a:latin typeface="Calibri"/>
              </a:defRPr>
            </a:pPr>
            <a:r>
              <a:t>•  Assigned to: Lead Frontend Engineer (Student 1)</a:t>
            </a:r>
          </a:p>
          <a:p>
            <a:pPr>
              <a:spcAft>
                <a:spcPts val="800"/>
              </a:spcAft>
              <a:defRPr sz="1100">
                <a:solidFill>
                  <a:srgbClr val="0F172A"/>
                </a:solidFill>
                <a:latin typeface="Calibri"/>
              </a:defRPr>
            </a:pPr>
            <a:r>
              <a:t>•  Key Deliverables:</a:t>
            </a:r>
          </a:p>
          <a:p>
            <a:pPr>
              <a:spcAft>
                <a:spcPts val="800"/>
              </a:spcAft>
              <a:defRPr sz="1100">
                <a:solidFill>
                  <a:srgbClr val="0F172A"/>
                </a:solidFill>
                <a:latin typeface="Calibri"/>
              </a:defRPr>
            </a:pPr>
            <a:r>
              <a:t>•    • React 18 SPA Architecture &amp; Route Setup</a:t>
            </a:r>
          </a:p>
          <a:p>
            <a:pPr>
              <a:spcAft>
                <a:spcPts val="800"/>
              </a:spcAft>
              <a:defRPr sz="1100">
                <a:solidFill>
                  <a:srgbClr val="0F172A"/>
                </a:solidFill>
                <a:latin typeface="Calibri"/>
              </a:defRPr>
            </a:pPr>
            <a:r>
              <a:t>•    • Webcam Recording Interface via MediaRecorder</a:t>
            </a:r>
          </a:p>
          <a:p>
            <a:pPr>
              <a:spcAft>
                <a:spcPts val="800"/>
              </a:spcAft>
              <a:defRPr sz="1100">
                <a:solidFill>
                  <a:srgbClr val="0F172A"/>
                </a:solidFill>
                <a:latin typeface="Calibri"/>
              </a:defRPr>
            </a:pPr>
            <a:r>
              <a:t>•    • Student Analytics Dashboard with Chart.js radar &amp; ring charts</a:t>
            </a:r>
          </a:p>
          <a:p>
            <a:pPr>
              <a:spcAft>
                <a:spcPts val="800"/>
              </a:spcAft>
              <a:defRPr sz="1100">
                <a:solidFill>
                  <a:srgbClr val="0F172A"/>
                </a:solidFill>
                <a:latin typeface="Calibri"/>
              </a:defRPr>
            </a:pPr>
            <a:r>
              <a:t>•    • Three.js 3D VRM Interactive Avatar Coach</a:t>
            </a:r>
          </a:p>
          <a:p>
            <a:pPr>
              <a:spcAft>
                <a:spcPts val="800"/>
              </a:spcAft>
              <a:defRPr sz="1100">
                <a:solidFill>
                  <a:srgbClr val="0F172A"/>
                </a:solidFill>
                <a:latin typeface="Calibri"/>
              </a:defRPr>
            </a:pPr>
            <a:r>
              <a:t>•    • Learning Resource Center (4-7-8 Breathing Drill &amp; Mindset Guide)</a:t>
            </a:r>
          </a:p>
          <a:p>
            <a:pPr>
              <a:spcAft>
                <a:spcPts val="800"/>
              </a:spcAft>
              <a:defRPr sz="1100">
                <a:solidFill>
                  <a:srgbClr val="0F172A"/>
                </a:solidFill>
                <a:latin typeface="Calibri"/>
              </a:defRPr>
            </a:pPr>
            <a:r>
              <a:t>•  Status: Fully Integrated &amp; Operational</a:t>
            </a:r>
          </a:p>
        </p:txBody>
      </p:sp>
      <p:sp>
        <p:nvSpPr>
          <p:cNvPr id="14" name="Rounded Rectangle 13"/>
          <p:cNvSpPr/>
          <p:nvPr/>
        </p:nvSpPr>
        <p:spPr>
          <a:xfrm>
            <a:off x="4425696"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1847088"/>
            <a:ext cx="2962656" cy="365760"/>
          </a:xfrm>
          <a:prstGeom prst="rect">
            <a:avLst/>
          </a:prstGeom>
          <a:noFill/>
        </p:spPr>
        <p:txBody>
          <a:bodyPr wrap="none">
            <a:spAutoFit/>
          </a:bodyPr>
          <a:lstStyle/>
          <a:p>
            <a:pPr>
              <a:defRPr sz="1400" b="1">
                <a:solidFill>
                  <a:srgbClr val="4338CA"/>
                </a:solidFill>
                <a:latin typeface="Calibri"/>
              </a:defRPr>
            </a:pPr>
            <a:r>
              <a:t>Module 2: Backend &amp; Database</a:t>
            </a:r>
          </a:p>
        </p:txBody>
      </p:sp>
      <p:sp>
        <p:nvSpPr>
          <p:cNvPr id="16" name="TextBox 15"/>
          <p:cNvSpPr txBox="1"/>
          <p:nvPr/>
        </p:nvSpPr>
        <p:spPr>
          <a:xfrm>
            <a:off x="4608576" y="2240280"/>
            <a:ext cx="2962656" cy="3749039"/>
          </a:xfrm>
          <a:prstGeom prst="rect">
            <a:avLst/>
          </a:prstGeom>
          <a:noFill/>
        </p:spPr>
        <p:txBody>
          <a:bodyPr wrap="square">
            <a:spAutoFit/>
          </a:bodyPr>
          <a:lstStyle/>
          <a:p>
            <a:pPr>
              <a:spcAft>
                <a:spcPts val="800"/>
              </a:spcAft>
              <a:defRPr sz="1100">
                <a:solidFill>
                  <a:srgbClr val="0F172A"/>
                </a:solidFill>
                <a:latin typeface="Calibri"/>
              </a:defRPr>
            </a:pPr>
            <a:r>
              <a:t>•  Assigned to: Backend Systems Engineer (Student 2)</a:t>
            </a:r>
          </a:p>
          <a:p>
            <a:pPr>
              <a:spcAft>
                <a:spcPts val="800"/>
              </a:spcAft>
              <a:defRPr sz="1100">
                <a:solidFill>
                  <a:srgbClr val="0F172A"/>
                </a:solidFill>
                <a:latin typeface="Calibri"/>
              </a:defRPr>
            </a:pPr>
            <a:r>
              <a:t>•  Key Deliverables:</a:t>
            </a:r>
          </a:p>
          <a:p>
            <a:pPr>
              <a:spcAft>
                <a:spcPts val="800"/>
              </a:spcAft>
              <a:defRPr sz="1100">
                <a:solidFill>
                  <a:srgbClr val="0F172A"/>
                </a:solidFill>
                <a:latin typeface="Calibri"/>
              </a:defRPr>
            </a:pPr>
            <a:r>
              <a:t>•    • FastAPI Server Configuration with Uvicorn</a:t>
            </a:r>
          </a:p>
          <a:p>
            <a:pPr>
              <a:spcAft>
                <a:spcPts val="800"/>
              </a:spcAft>
              <a:defRPr sz="1100">
                <a:solidFill>
                  <a:srgbClr val="0F172A"/>
                </a:solidFill>
                <a:latin typeface="Calibri"/>
              </a:defRPr>
            </a:pPr>
            <a:r>
              <a:t>•    • User Authentication (Argon2 Hashed Passwords &amp; OTP support)</a:t>
            </a:r>
          </a:p>
          <a:p>
            <a:pPr>
              <a:spcAft>
                <a:spcPts val="800"/>
              </a:spcAft>
              <a:defRPr sz="1100">
                <a:solidFill>
                  <a:srgbClr val="0F172A"/>
                </a:solidFill>
                <a:latin typeface="Calibri"/>
              </a:defRPr>
            </a:pPr>
            <a:r>
              <a:t>•    • SQLite Database Schema (users &amp; analysis_results tables)</a:t>
            </a:r>
          </a:p>
          <a:p>
            <a:pPr>
              <a:spcAft>
                <a:spcPts val="800"/>
              </a:spcAft>
              <a:defRPr sz="1100">
                <a:solidFill>
                  <a:srgbClr val="0F172A"/>
                </a:solidFill>
                <a:latin typeface="Calibri"/>
              </a:defRPr>
            </a:pPr>
            <a:r>
              <a:t>•    • REST API Endpoints: /signup, /login, /analyze, /dashboard</a:t>
            </a:r>
          </a:p>
          <a:p>
            <a:pPr>
              <a:spcAft>
                <a:spcPts val="800"/>
              </a:spcAft>
              <a:defRPr sz="1100">
                <a:solidFill>
                  <a:srgbClr val="0F172A"/>
                </a:solidFill>
                <a:latin typeface="Calibri"/>
              </a:defRPr>
            </a:pPr>
            <a:r>
              <a:t>•    • Multi-turn Gemini AI Coaching Integration (/coaching/chat)</a:t>
            </a:r>
          </a:p>
          <a:p>
            <a:pPr>
              <a:spcAft>
                <a:spcPts val="800"/>
              </a:spcAft>
              <a:defRPr sz="1100">
                <a:solidFill>
                  <a:srgbClr val="0F172A"/>
                </a:solidFill>
                <a:latin typeface="Calibri"/>
              </a:defRPr>
            </a:pPr>
            <a:r>
              <a:t>•  Status: Completed &amp; Verified on Port 8000</a:t>
            </a:r>
          </a:p>
        </p:txBody>
      </p:sp>
      <p:sp>
        <p:nvSpPr>
          <p:cNvPr id="17" name="Rounded Rectangle 16"/>
          <p:cNvSpPr/>
          <p:nvPr/>
        </p:nvSpPr>
        <p:spPr>
          <a:xfrm>
            <a:off x="8119872" y="1737360"/>
            <a:ext cx="3328416"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847088"/>
            <a:ext cx="2962656" cy="365760"/>
          </a:xfrm>
          <a:prstGeom prst="rect">
            <a:avLst/>
          </a:prstGeom>
          <a:noFill/>
        </p:spPr>
        <p:txBody>
          <a:bodyPr wrap="none">
            <a:spAutoFit/>
          </a:bodyPr>
          <a:lstStyle/>
          <a:p>
            <a:pPr>
              <a:defRPr sz="1400" b="1">
                <a:solidFill>
                  <a:srgbClr val="16A34A"/>
                </a:solidFill>
                <a:latin typeface="Calibri"/>
              </a:defRPr>
            </a:pPr>
            <a:r>
              <a:t>Module 3: AI &amp; Analytics Pipeline</a:t>
            </a:r>
          </a:p>
        </p:txBody>
      </p:sp>
      <p:sp>
        <p:nvSpPr>
          <p:cNvPr id="19" name="TextBox 18"/>
          <p:cNvSpPr txBox="1"/>
          <p:nvPr/>
        </p:nvSpPr>
        <p:spPr>
          <a:xfrm>
            <a:off x="8302752" y="2240280"/>
            <a:ext cx="2962656" cy="3749039"/>
          </a:xfrm>
          <a:prstGeom prst="rect">
            <a:avLst/>
          </a:prstGeom>
          <a:noFill/>
        </p:spPr>
        <p:txBody>
          <a:bodyPr wrap="square">
            <a:spAutoFit/>
          </a:bodyPr>
          <a:lstStyle/>
          <a:p>
            <a:pPr>
              <a:spcAft>
                <a:spcPts val="800"/>
              </a:spcAft>
              <a:defRPr sz="1100">
                <a:solidFill>
                  <a:srgbClr val="0F172A"/>
                </a:solidFill>
                <a:latin typeface="Calibri"/>
              </a:defRPr>
            </a:pPr>
            <a:r>
              <a:t>•  Assigned to: AI &amp; Vision Specialist (Team / Abhay)</a:t>
            </a:r>
          </a:p>
          <a:p>
            <a:pPr>
              <a:spcAft>
                <a:spcPts val="800"/>
              </a:spcAft>
              <a:defRPr sz="1100">
                <a:solidFill>
                  <a:srgbClr val="0F172A"/>
                </a:solidFill>
                <a:latin typeface="Calibri"/>
              </a:defRPr>
            </a:pPr>
            <a:r>
              <a:t>•  Key Deliverables:</a:t>
            </a:r>
          </a:p>
          <a:p>
            <a:pPr>
              <a:spcAft>
                <a:spcPts val="800"/>
              </a:spcAft>
              <a:defRPr sz="1100">
                <a:solidFill>
                  <a:srgbClr val="0F172A"/>
                </a:solidFill>
                <a:latin typeface="Calibri"/>
              </a:defRPr>
            </a:pPr>
            <a:r>
              <a:t>•    • OpenCV Video Stream Analysis (Face &amp; Smile Cascades)</a:t>
            </a:r>
          </a:p>
          <a:p>
            <a:pPr>
              <a:spcAft>
                <a:spcPts val="800"/>
              </a:spcAft>
              <a:defRPr sz="1100">
                <a:solidFill>
                  <a:srgbClr val="0F172A"/>
                </a:solidFill>
                <a:latin typeface="Calibri"/>
              </a:defRPr>
            </a:pPr>
            <a:r>
              <a:t>•    • MoviePy Audio Demuxing &amp; Normalization</a:t>
            </a:r>
          </a:p>
          <a:p>
            <a:pPr>
              <a:spcAft>
                <a:spcPts val="800"/>
              </a:spcAft>
              <a:defRPr sz="1100">
                <a:solidFill>
                  <a:srgbClr val="0F172A"/>
                </a:solidFill>
                <a:latin typeface="Calibri"/>
              </a:defRPr>
            </a:pPr>
            <a:r>
              <a:t>•    • OpenAI Whisper Speech-to-Text &amp; WPM Calculation</a:t>
            </a:r>
          </a:p>
          <a:p>
            <a:pPr>
              <a:spcAft>
                <a:spcPts val="800"/>
              </a:spcAft>
              <a:defRPr sz="1100">
                <a:solidFill>
                  <a:srgbClr val="0F172A"/>
                </a:solidFill>
                <a:latin typeface="Calibri"/>
              </a:defRPr>
            </a:pPr>
            <a:r>
              <a:t>•    • Filler Word Dictionary Scanning ('um', 'uh', 'like')</a:t>
            </a:r>
          </a:p>
          <a:p>
            <a:pPr>
              <a:spcAft>
                <a:spcPts val="800"/>
              </a:spcAft>
              <a:defRPr sz="1100">
                <a:solidFill>
                  <a:srgbClr val="0F172A"/>
                </a:solidFill>
                <a:latin typeface="Calibri"/>
              </a:defRPr>
            </a:pPr>
            <a:r>
              <a:t>•    • Composite Scoring Formulation &amp; Penalty Engine</a:t>
            </a:r>
          </a:p>
          <a:p>
            <a:pPr>
              <a:spcAft>
                <a:spcPts val="800"/>
              </a:spcAft>
              <a:defRPr sz="1100">
                <a:solidFill>
                  <a:srgbClr val="0F172A"/>
                </a:solidFill>
                <a:latin typeface="Calibri"/>
              </a:defRPr>
            </a:pPr>
            <a:r>
              <a:t>•  Status: Tested on Real 90s Sessions (Score 78.5%)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WORK PLAN (PAGE 2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WORK PLAN: SEMESTER TIMELINE &amp; GANTT CHART DIAGRAM</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Visual 16-week project execution timeline for B.Tech III Year Mini Project (2025–26 SEM A).</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11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10728655"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10362895" cy="365760"/>
          </a:xfrm>
          <a:prstGeom prst="rect">
            <a:avLst/>
          </a:prstGeom>
          <a:noFill/>
        </p:spPr>
        <p:txBody>
          <a:bodyPr wrap="none">
            <a:spAutoFit/>
          </a:bodyPr>
          <a:lstStyle/>
          <a:p>
            <a:pPr>
              <a:defRPr sz="1400" b="1">
                <a:solidFill>
                  <a:srgbClr val="4338CA"/>
                </a:solidFill>
                <a:latin typeface="Calibri"/>
              </a:defRPr>
            </a:pPr>
            <a:r>
              <a:t>Figure: 16-Week Project Gantt Chart Diagram (SEM A)</a:t>
            </a:r>
          </a:p>
        </p:txBody>
      </p:sp>
      <p:graphicFrame>
        <p:nvGraphicFramePr>
          <p:cNvPr id="13" name="Table 12"/>
          <p:cNvGraphicFramePr>
            <a:graphicFrameLocks noGrp="1"/>
          </p:cNvGraphicFramePr>
          <p:nvPr/>
        </p:nvGraphicFramePr>
        <p:xfrm>
          <a:off x="914400" y="2240280"/>
          <a:ext cx="10362895" cy="3749039"/>
        </p:xfrm>
        <a:graphic>
          <a:graphicData uri="http://schemas.openxmlformats.org/drawingml/2006/table">
            <a:tbl>
              <a:tblPr firstRow="1" bandRow="1">
                <a:tableStyleId>{5C22544A-7EE6-4342-B048-85BDC9FD1C3A}</a:tableStyleId>
              </a:tblPr>
              <a:tblGrid>
                <a:gridCol w="2377440"/>
                <a:gridCol w="3017520"/>
                <a:gridCol w="1645920"/>
                <a:gridCol w="1645920"/>
                <a:gridCol w="1676095"/>
              </a:tblGrid>
              <a:tr h="535577">
                <a:tc>
                  <a:txBody>
                    <a:bodyPr wrap="square"/>
                    <a:lstStyle/>
                    <a:p>
                      <a:pPr algn="ctr">
                        <a:defRPr sz="1050" b="1">
                          <a:solidFill>
                            <a:srgbClr val="FFFFFF"/>
                          </a:solidFill>
                          <a:latin typeface="Calibri"/>
                        </a:defRPr>
                      </a:pPr>
                      <a:r>
                        <a:t>Project Phase</a:t>
                      </a:r>
                    </a:p>
                  </a:txBody>
                  <a:tcPr anchor="ctr">
                    <a:solidFill>
                      <a:srgbClr val="4338CA"/>
                    </a:solidFill>
                  </a:tcPr>
                </a:tc>
                <a:tc>
                  <a:txBody>
                    <a:bodyPr wrap="square"/>
                    <a:lstStyle/>
                    <a:p>
                      <a:pPr algn="ctr">
                        <a:defRPr sz="1050" b="1">
                          <a:solidFill>
                            <a:srgbClr val="FFFFFF"/>
                          </a:solidFill>
                          <a:latin typeface="Calibri"/>
                        </a:defRPr>
                      </a:pPr>
                      <a:r>
                        <a:t>Key Activities / Deliverables</a:t>
                      </a:r>
                    </a:p>
                  </a:txBody>
                  <a:tcPr anchor="ctr">
                    <a:solidFill>
                      <a:srgbClr val="4338CA"/>
                    </a:solidFill>
                  </a:tcPr>
                </a:tc>
                <a:tc>
                  <a:txBody>
                    <a:bodyPr wrap="square"/>
                    <a:lstStyle/>
                    <a:p>
                      <a:pPr algn="ctr">
                        <a:defRPr sz="1050" b="1">
                          <a:solidFill>
                            <a:srgbClr val="FFFFFF"/>
                          </a:solidFill>
                          <a:latin typeface="Calibri"/>
                        </a:defRPr>
                      </a:pPr>
                      <a:r>
                        <a:t>Timeline</a:t>
                      </a:r>
                    </a:p>
                  </a:txBody>
                  <a:tcPr anchor="ctr">
                    <a:solidFill>
                      <a:srgbClr val="4338CA"/>
                    </a:solidFill>
                  </a:tcPr>
                </a:tc>
                <a:tc>
                  <a:txBody>
                    <a:bodyPr wrap="square"/>
                    <a:lstStyle/>
                    <a:p>
                      <a:pPr algn="ctr">
                        <a:defRPr sz="1050" b="1">
                          <a:solidFill>
                            <a:srgbClr val="FFFFFF"/>
                          </a:solidFill>
                          <a:latin typeface="Calibri"/>
                        </a:defRPr>
                      </a:pPr>
                      <a:r>
                        <a:t>Target Milestones</a:t>
                      </a:r>
                    </a:p>
                  </a:txBody>
                  <a:tcPr anchor="ctr">
                    <a:solidFill>
                      <a:srgbClr val="4338CA"/>
                    </a:solidFill>
                  </a:tcPr>
                </a:tc>
                <a:tc>
                  <a:txBody>
                    <a:bodyPr wrap="square"/>
                    <a:lstStyle/>
                    <a:p>
                      <a:pPr algn="ctr">
                        <a:defRPr sz="1050" b="1">
                          <a:solidFill>
                            <a:srgbClr val="FFFFFF"/>
                          </a:solidFill>
                          <a:latin typeface="Calibri"/>
                        </a:defRPr>
                      </a:pPr>
                      <a:r>
                        <a:t>Current Status</a:t>
                      </a:r>
                    </a:p>
                  </a:txBody>
                  <a:tcPr anchor="ctr">
                    <a:solidFill>
                      <a:srgbClr val="4338CA"/>
                    </a:solidFill>
                  </a:tcPr>
                </a:tc>
              </a:tr>
              <a:tr h="535577">
                <a:tc>
                  <a:txBody>
                    <a:bodyPr wrap="square"/>
                    <a:lstStyle/>
                    <a:p>
                      <a:pPr algn="l">
                        <a:defRPr sz="1000" b="1">
                          <a:solidFill>
                            <a:srgbClr val="0F172A"/>
                          </a:solidFill>
                          <a:latin typeface="Calibri"/>
                        </a:defRPr>
                      </a:pPr>
                      <a:r>
                        <a:t>Phase 1: Planning &amp; Literature Survey</a:t>
                      </a:r>
                    </a:p>
                  </a:txBody>
                  <a:tcPr anchor="ctr">
                    <a:solidFill>
                      <a:srgbClr val="EEF2FF"/>
                    </a:solidFill>
                  </a:tcPr>
                </a:tc>
                <a:tc>
                  <a:txBody>
                    <a:bodyPr wrap="square"/>
                    <a:lstStyle/>
                    <a:p>
                      <a:pPr algn="l">
                        <a:defRPr sz="1000" b="0">
                          <a:solidFill>
                            <a:srgbClr val="0F172A"/>
                          </a:solidFill>
                          <a:latin typeface="Calibri"/>
                        </a:defRPr>
                      </a:pPr>
                      <a:r>
                        <a:t>Problem formulation, SRS, feasibility study, literature comparison</a:t>
                      </a:r>
                    </a:p>
                  </a:txBody>
                  <a:tcPr anchor="ctr">
                    <a:solidFill>
                      <a:srgbClr val="EEF2FF"/>
                    </a:solidFill>
                  </a:tcPr>
                </a:tc>
                <a:tc>
                  <a:txBody>
                    <a:bodyPr wrap="square"/>
                    <a:lstStyle/>
                    <a:p>
                      <a:pPr algn="ctr">
                        <a:defRPr sz="1000" b="0">
                          <a:solidFill>
                            <a:srgbClr val="0F172A"/>
                          </a:solidFill>
                          <a:latin typeface="Calibri"/>
                        </a:defRPr>
                      </a:pPr>
                      <a:r>
                        <a:t>Weeks 1–3 (July/Aug)</a:t>
                      </a:r>
                    </a:p>
                  </a:txBody>
                  <a:tcPr anchor="ctr">
                    <a:solidFill>
                      <a:srgbClr val="EEF2FF"/>
                    </a:solidFill>
                  </a:tcPr>
                </a:tc>
                <a:tc>
                  <a:txBody>
                    <a:bodyPr wrap="square"/>
                    <a:lstStyle/>
                    <a:p>
                      <a:pPr algn="ctr">
                        <a:defRPr sz="1000" b="0">
                          <a:solidFill>
                            <a:srgbClr val="0F172A"/>
                          </a:solidFill>
                          <a:latin typeface="Calibri"/>
                        </a:defRPr>
                      </a:pPr>
                      <a:r>
                        <a:t>Proposal Approved</a:t>
                      </a:r>
                    </a:p>
                  </a:txBody>
                  <a:tcPr anchor="ctr">
                    <a:solidFill>
                      <a:srgbClr val="EEF2FF"/>
                    </a:solidFill>
                  </a:tcPr>
                </a:tc>
                <a:tc>
                  <a:txBody>
                    <a:bodyPr wrap="square"/>
                    <a:lstStyle/>
                    <a:p>
                      <a:pPr algn="ctr">
                        <a:defRPr sz="1000" b="1">
                          <a:solidFill>
                            <a:srgbClr val="16A34A"/>
                          </a:solidFill>
                          <a:latin typeface="Calibri"/>
                        </a:defRPr>
                      </a:pPr>
                      <a:r>
                        <a:t>Completed (100%)</a:t>
                      </a:r>
                    </a:p>
                  </a:txBody>
                  <a:tcPr anchor="ctr">
                    <a:solidFill>
                      <a:srgbClr val="F0FDF4"/>
                    </a:solidFill>
                  </a:tcPr>
                </a:tc>
              </a:tr>
              <a:tr h="535577">
                <a:tc>
                  <a:txBody>
                    <a:bodyPr wrap="square"/>
                    <a:lstStyle/>
                    <a:p>
                      <a:pPr algn="l">
                        <a:defRPr sz="1000" b="1">
                          <a:solidFill>
                            <a:srgbClr val="0F172A"/>
                          </a:solidFill>
                          <a:latin typeface="Calibri"/>
                        </a:defRPr>
                      </a:pPr>
                      <a:r>
                        <a:t>Phase 2: UI &amp; Architecture Design</a:t>
                      </a:r>
                    </a:p>
                  </a:txBody>
                  <a:tcPr anchor="ctr">
                    <a:solidFill>
                      <a:srgbClr val="FFFFFF"/>
                    </a:solidFill>
                  </a:tcPr>
                </a:tc>
                <a:tc>
                  <a:txBody>
                    <a:bodyPr wrap="square"/>
                    <a:lstStyle/>
                    <a:p>
                      <a:pPr algn="l">
                        <a:defRPr sz="1000" b="0">
                          <a:solidFill>
                            <a:srgbClr val="0F172A"/>
                          </a:solidFill>
                          <a:latin typeface="Calibri"/>
                        </a:defRPr>
                      </a:pPr>
                      <a:r>
                        <a:t>Wireframing, React frontend layout, database schema definition</a:t>
                      </a:r>
                    </a:p>
                  </a:txBody>
                  <a:tcPr anchor="ctr">
                    <a:solidFill>
                      <a:srgbClr val="FFFFFF"/>
                    </a:solidFill>
                  </a:tcPr>
                </a:tc>
                <a:tc>
                  <a:txBody>
                    <a:bodyPr wrap="square"/>
                    <a:lstStyle/>
                    <a:p>
                      <a:pPr algn="ctr">
                        <a:defRPr sz="1000" b="0">
                          <a:solidFill>
                            <a:srgbClr val="0F172A"/>
                          </a:solidFill>
                          <a:latin typeface="Calibri"/>
                        </a:defRPr>
                      </a:pPr>
                      <a:r>
                        <a:t>Weeks 4–6 (Aug)</a:t>
                      </a:r>
                    </a:p>
                  </a:txBody>
                  <a:tcPr anchor="ctr">
                    <a:solidFill>
                      <a:srgbClr val="FFFFFF"/>
                    </a:solidFill>
                  </a:tcPr>
                </a:tc>
                <a:tc>
                  <a:txBody>
                    <a:bodyPr wrap="square"/>
                    <a:lstStyle/>
                    <a:p>
                      <a:pPr algn="ctr">
                        <a:defRPr sz="1000" b="0">
                          <a:solidFill>
                            <a:srgbClr val="0F172A"/>
                          </a:solidFill>
                          <a:latin typeface="Calibri"/>
                        </a:defRPr>
                      </a:pPr>
                      <a:r>
                        <a:t>Architecture Finalized</a:t>
                      </a:r>
                    </a:p>
                  </a:txBody>
                  <a:tcPr anchor="ctr">
                    <a:solidFill>
                      <a:srgbClr val="FFFFFF"/>
                    </a:solidFill>
                  </a:tcPr>
                </a:tc>
                <a:tc>
                  <a:txBody>
                    <a:bodyPr wrap="square"/>
                    <a:lstStyle/>
                    <a:p>
                      <a:pPr algn="ctr">
                        <a:defRPr sz="1000" b="1">
                          <a:solidFill>
                            <a:srgbClr val="16A34A"/>
                          </a:solidFill>
                          <a:latin typeface="Calibri"/>
                        </a:defRPr>
                      </a:pPr>
                      <a:r>
                        <a:t>Completed (100%)</a:t>
                      </a:r>
                    </a:p>
                  </a:txBody>
                  <a:tcPr anchor="ctr">
                    <a:solidFill>
                      <a:srgbClr val="F0FDF4"/>
                    </a:solidFill>
                  </a:tcPr>
                </a:tc>
              </a:tr>
              <a:tr h="535577">
                <a:tc>
                  <a:txBody>
                    <a:bodyPr wrap="square"/>
                    <a:lstStyle/>
                    <a:p>
                      <a:pPr algn="l">
                        <a:defRPr sz="1000" b="1">
                          <a:solidFill>
                            <a:srgbClr val="0F172A"/>
                          </a:solidFill>
                          <a:latin typeface="Calibri"/>
                        </a:defRPr>
                      </a:pPr>
                      <a:r>
                        <a:t>Phase 3: Backend &amp; Vision Core</a:t>
                      </a:r>
                    </a:p>
                  </a:txBody>
                  <a:tcPr anchor="ctr">
                    <a:solidFill>
                      <a:srgbClr val="EEF2FF"/>
                    </a:solidFill>
                  </a:tcPr>
                </a:tc>
                <a:tc>
                  <a:txBody>
                    <a:bodyPr wrap="square"/>
                    <a:lstStyle/>
                    <a:p>
                      <a:pPr algn="l">
                        <a:defRPr sz="1000" b="0">
                          <a:solidFill>
                            <a:srgbClr val="0F172A"/>
                          </a:solidFill>
                          <a:latin typeface="Calibri"/>
                        </a:defRPr>
                      </a:pPr>
                      <a:r>
                        <a:t>FastAPI endpoints setup, OpenCV face &amp; smile cascade integration</a:t>
                      </a:r>
                    </a:p>
                  </a:txBody>
                  <a:tcPr anchor="ctr">
                    <a:solidFill>
                      <a:srgbClr val="EEF2FF"/>
                    </a:solidFill>
                  </a:tcPr>
                </a:tc>
                <a:tc>
                  <a:txBody>
                    <a:bodyPr wrap="square"/>
                    <a:lstStyle/>
                    <a:p>
                      <a:pPr algn="ctr">
                        <a:defRPr sz="1000" b="0">
                          <a:solidFill>
                            <a:srgbClr val="0F172A"/>
                          </a:solidFill>
                          <a:latin typeface="Calibri"/>
                        </a:defRPr>
                      </a:pPr>
                      <a:r>
                        <a:t>Weeks 7–9 (Sept)</a:t>
                      </a:r>
                    </a:p>
                  </a:txBody>
                  <a:tcPr anchor="ctr">
                    <a:solidFill>
                      <a:srgbClr val="EEF2FF"/>
                    </a:solidFill>
                  </a:tcPr>
                </a:tc>
                <a:tc>
                  <a:txBody>
                    <a:bodyPr wrap="square"/>
                    <a:lstStyle/>
                    <a:p>
                      <a:pPr algn="ctr">
                        <a:defRPr sz="1000" b="0">
                          <a:solidFill>
                            <a:srgbClr val="0F172A"/>
                          </a:solidFill>
                          <a:latin typeface="Calibri"/>
                        </a:defRPr>
                      </a:pPr>
                      <a:r>
                        <a:t>Vision Pipeline Working</a:t>
                      </a:r>
                    </a:p>
                  </a:txBody>
                  <a:tcPr anchor="ctr">
                    <a:solidFill>
                      <a:srgbClr val="EEF2FF"/>
                    </a:solidFill>
                  </a:tcPr>
                </a:tc>
                <a:tc>
                  <a:txBody>
                    <a:bodyPr wrap="square"/>
                    <a:lstStyle/>
                    <a:p>
                      <a:pPr algn="ctr">
                        <a:defRPr sz="1000" b="1">
                          <a:solidFill>
                            <a:srgbClr val="16A34A"/>
                          </a:solidFill>
                          <a:latin typeface="Calibri"/>
                        </a:defRPr>
                      </a:pPr>
                      <a:r>
                        <a:t>Completed (100%)</a:t>
                      </a:r>
                    </a:p>
                  </a:txBody>
                  <a:tcPr anchor="ctr">
                    <a:solidFill>
                      <a:srgbClr val="F0FDF4"/>
                    </a:solidFill>
                  </a:tcPr>
                </a:tc>
              </a:tr>
              <a:tr h="535577">
                <a:tc>
                  <a:txBody>
                    <a:bodyPr wrap="square"/>
                    <a:lstStyle/>
                    <a:p>
                      <a:pPr algn="l">
                        <a:defRPr sz="1000" b="1">
                          <a:solidFill>
                            <a:srgbClr val="0F172A"/>
                          </a:solidFill>
                          <a:latin typeface="Calibri"/>
                        </a:defRPr>
                      </a:pPr>
                      <a:r>
                        <a:t>Phase 4: Speech &amp; Scoring Engine</a:t>
                      </a:r>
                    </a:p>
                  </a:txBody>
                  <a:tcPr anchor="ctr">
                    <a:solidFill>
                      <a:srgbClr val="FFFFFF"/>
                    </a:solidFill>
                  </a:tcPr>
                </a:tc>
                <a:tc>
                  <a:txBody>
                    <a:bodyPr wrap="square"/>
                    <a:lstStyle/>
                    <a:p>
                      <a:pPr algn="l">
                        <a:defRPr sz="1000" b="0">
                          <a:solidFill>
                            <a:srgbClr val="0F172A"/>
                          </a:solidFill>
                          <a:latin typeface="Calibri"/>
                        </a:defRPr>
                      </a:pPr>
                      <a:r>
                        <a:t>Whisper ASR setup, WPM pace calculator, weighted scoring algorithm</a:t>
                      </a:r>
                    </a:p>
                  </a:txBody>
                  <a:tcPr anchor="ctr">
                    <a:solidFill>
                      <a:srgbClr val="FFFFFF"/>
                    </a:solidFill>
                  </a:tcPr>
                </a:tc>
                <a:tc>
                  <a:txBody>
                    <a:bodyPr wrap="square"/>
                    <a:lstStyle/>
                    <a:p>
                      <a:pPr algn="ctr">
                        <a:defRPr sz="1000" b="0">
                          <a:solidFill>
                            <a:srgbClr val="0F172A"/>
                          </a:solidFill>
                          <a:latin typeface="Calibri"/>
                        </a:defRPr>
                      </a:pPr>
                      <a:r>
                        <a:t>Weeks 10–12 (Sept/Oct)</a:t>
                      </a:r>
                    </a:p>
                  </a:txBody>
                  <a:tcPr anchor="ctr">
                    <a:solidFill>
                      <a:srgbClr val="FFFFFF"/>
                    </a:solidFill>
                  </a:tcPr>
                </a:tc>
                <a:tc>
                  <a:txBody>
                    <a:bodyPr wrap="square"/>
                    <a:lstStyle/>
                    <a:p>
                      <a:pPr algn="ctr">
                        <a:defRPr sz="1000" b="0">
                          <a:solidFill>
                            <a:srgbClr val="0F172A"/>
                          </a:solidFill>
                          <a:latin typeface="Calibri"/>
                        </a:defRPr>
                      </a:pPr>
                      <a:r>
                        <a:t>Scoring Engine Operational</a:t>
                      </a:r>
                    </a:p>
                  </a:txBody>
                  <a:tcPr anchor="ctr">
                    <a:solidFill>
                      <a:srgbClr val="FFFFFF"/>
                    </a:solidFill>
                  </a:tcPr>
                </a:tc>
                <a:tc>
                  <a:txBody>
                    <a:bodyPr wrap="square"/>
                    <a:lstStyle/>
                    <a:p>
                      <a:pPr algn="ctr">
                        <a:defRPr sz="1000" b="1">
                          <a:solidFill>
                            <a:srgbClr val="16A34A"/>
                          </a:solidFill>
                          <a:latin typeface="Calibri"/>
                        </a:defRPr>
                      </a:pPr>
                      <a:r>
                        <a:t>Completed (100%)</a:t>
                      </a:r>
                    </a:p>
                  </a:txBody>
                  <a:tcPr anchor="ctr">
                    <a:solidFill>
                      <a:srgbClr val="F0FDF4"/>
                    </a:solidFill>
                  </a:tcPr>
                </a:tc>
              </a:tr>
              <a:tr h="535577">
                <a:tc>
                  <a:txBody>
                    <a:bodyPr wrap="square"/>
                    <a:lstStyle/>
                    <a:p>
                      <a:pPr algn="l">
                        <a:defRPr sz="1000" b="1">
                          <a:solidFill>
                            <a:srgbClr val="0F172A"/>
                          </a:solidFill>
                          <a:latin typeface="Calibri"/>
                        </a:defRPr>
                      </a:pPr>
                      <a:r>
                        <a:t>Phase 5: Avatar &amp; AI Coaching</a:t>
                      </a:r>
                    </a:p>
                  </a:txBody>
                  <a:tcPr anchor="ctr">
                    <a:solidFill>
                      <a:srgbClr val="EEF2FF"/>
                    </a:solidFill>
                  </a:tcPr>
                </a:tc>
                <a:tc>
                  <a:txBody>
                    <a:bodyPr wrap="square"/>
                    <a:lstStyle/>
                    <a:p>
                      <a:pPr algn="l">
                        <a:defRPr sz="1000" b="0">
                          <a:solidFill>
                            <a:srgbClr val="0F172A"/>
                          </a:solidFill>
                          <a:latin typeface="Calibri"/>
                        </a:defRPr>
                      </a:pPr>
                      <a:r>
                        <a:t>Three.js 3D avatar integration, Gemini AI chat &amp; breathing exercises</a:t>
                      </a:r>
                    </a:p>
                  </a:txBody>
                  <a:tcPr anchor="ctr">
                    <a:solidFill>
                      <a:srgbClr val="EEF2FF"/>
                    </a:solidFill>
                  </a:tcPr>
                </a:tc>
                <a:tc>
                  <a:txBody>
                    <a:bodyPr wrap="square"/>
                    <a:lstStyle/>
                    <a:p>
                      <a:pPr algn="ctr">
                        <a:defRPr sz="1000" b="0">
                          <a:solidFill>
                            <a:srgbClr val="0F172A"/>
                          </a:solidFill>
                          <a:latin typeface="Calibri"/>
                        </a:defRPr>
                      </a:pPr>
                      <a:r>
                        <a:t>Weeks 13–14 (Oct)</a:t>
                      </a:r>
                    </a:p>
                  </a:txBody>
                  <a:tcPr anchor="ctr">
                    <a:solidFill>
                      <a:srgbClr val="EEF2FF"/>
                    </a:solidFill>
                  </a:tcPr>
                </a:tc>
                <a:tc>
                  <a:txBody>
                    <a:bodyPr wrap="square"/>
                    <a:lstStyle/>
                    <a:p>
                      <a:pPr algn="ctr">
                        <a:defRPr sz="1000" b="0">
                          <a:solidFill>
                            <a:srgbClr val="0F172A"/>
                          </a:solidFill>
                          <a:latin typeface="Calibri"/>
                        </a:defRPr>
                      </a:pPr>
                      <a:r>
                        <a:t>Full Integration Demo</a:t>
                      </a:r>
                    </a:p>
                  </a:txBody>
                  <a:tcPr anchor="ctr">
                    <a:solidFill>
                      <a:srgbClr val="EEF2FF"/>
                    </a:solidFill>
                  </a:tcPr>
                </a:tc>
                <a:tc>
                  <a:txBody>
                    <a:bodyPr wrap="square"/>
                    <a:lstStyle/>
                    <a:p>
                      <a:pPr algn="ctr">
                        <a:defRPr sz="1000" b="1">
                          <a:solidFill>
                            <a:srgbClr val="16A34A"/>
                          </a:solidFill>
                          <a:latin typeface="Calibri"/>
                        </a:defRPr>
                      </a:pPr>
                      <a:r>
                        <a:t>Completed (100%)</a:t>
                      </a:r>
                    </a:p>
                  </a:txBody>
                  <a:tcPr anchor="ctr">
                    <a:solidFill>
                      <a:srgbClr val="F0FDF4"/>
                    </a:solidFill>
                  </a:tcPr>
                </a:tc>
              </a:tr>
              <a:tr h="535577">
                <a:tc>
                  <a:txBody>
                    <a:bodyPr wrap="square"/>
                    <a:lstStyle/>
                    <a:p>
                      <a:pPr algn="l">
                        <a:defRPr sz="1000" b="1">
                          <a:solidFill>
                            <a:srgbClr val="0F172A"/>
                          </a:solidFill>
                          <a:latin typeface="Calibri"/>
                        </a:defRPr>
                      </a:pPr>
                      <a:r>
                        <a:t>Phase 6: Testing &amp; Evaluation</a:t>
                      </a:r>
                    </a:p>
                  </a:txBody>
                  <a:tcPr anchor="ctr">
                    <a:solidFill>
                      <a:srgbClr val="FFFFFF"/>
                    </a:solidFill>
                  </a:tcPr>
                </a:tc>
                <a:tc>
                  <a:txBody>
                    <a:bodyPr wrap="square"/>
                    <a:lstStyle/>
                    <a:p>
                      <a:pPr algn="l">
                        <a:defRPr sz="1000" b="0">
                          <a:solidFill>
                            <a:srgbClr val="0F172A"/>
                          </a:solidFill>
                          <a:latin typeface="Calibri"/>
                        </a:defRPr>
                      </a:pPr>
                      <a:r>
                        <a:t>Mock interview tests, metrics verification in SQLite, proposal defense</a:t>
                      </a:r>
                    </a:p>
                  </a:txBody>
                  <a:tcPr anchor="ctr">
                    <a:solidFill>
                      <a:srgbClr val="FFFFFF"/>
                    </a:solidFill>
                  </a:tcPr>
                </a:tc>
                <a:tc>
                  <a:txBody>
                    <a:bodyPr wrap="square"/>
                    <a:lstStyle/>
                    <a:p>
                      <a:pPr algn="ctr">
                        <a:defRPr sz="1000" b="0">
                          <a:solidFill>
                            <a:srgbClr val="0F172A"/>
                          </a:solidFill>
                          <a:latin typeface="Calibri"/>
                        </a:defRPr>
                      </a:pPr>
                      <a:r>
                        <a:t>Weeks 15–16 (Nov)</a:t>
                      </a:r>
                    </a:p>
                  </a:txBody>
                  <a:tcPr anchor="ctr">
                    <a:solidFill>
                      <a:srgbClr val="FFFFFF"/>
                    </a:solidFill>
                  </a:tcPr>
                </a:tc>
                <a:tc>
                  <a:txBody>
                    <a:bodyPr wrap="square"/>
                    <a:lstStyle/>
                    <a:p>
                      <a:pPr algn="ctr">
                        <a:defRPr sz="1000" b="0">
                          <a:solidFill>
                            <a:srgbClr val="0F172A"/>
                          </a:solidFill>
                          <a:latin typeface="Calibri"/>
                        </a:defRPr>
                      </a:pPr>
                      <a:r>
                        <a:t>Final Proposal Submission</a:t>
                      </a:r>
                    </a:p>
                  </a:txBody>
                  <a:tcPr anchor="ctr">
                    <a:solidFill>
                      <a:srgbClr val="FFFFFF"/>
                    </a:solidFill>
                  </a:tcPr>
                </a:tc>
                <a:tc>
                  <a:txBody>
                    <a:bodyPr wrap="square"/>
                    <a:lstStyle/>
                    <a:p>
                      <a:pPr algn="ctr">
                        <a:defRPr sz="1000" b="1">
                          <a:solidFill>
                            <a:srgbClr val="16A34A"/>
                          </a:solidFill>
                          <a:latin typeface="Calibri"/>
                        </a:defRPr>
                      </a:pPr>
                      <a:r>
                        <a:t>Verified &amp; Ready</a:t>
                      </a:r>
                    </a:p>
                  </a:txBody>
                  <a:tcPr anchor="ctr">
                    <a:solidFill>
                      <a:srgbClr val="F0FD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WORK PLAN (PAGE 3 OF 3)</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WORK PLAN: MILESTONES ACHIEVED &amp; VERIFIED PROGRESS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Tangible implementation progress and experimental verification already completed in the workspace.</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12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4846320" cy="365760"/>
          </a:xfrm>
          <a:prstGeom prst="rect">
            <a:avLst/>
          </a:prstGeom>
          <a:noFill/>
        </p:spPr>
        <p:txBody>
          <a:bodyPr wrap="none">
            <a:spAutoFit/>
          </a:bodyPr>
          <a:lstStyle/>
          <a:p>
            <a:pPr>
              <a:defRPr sz="1400" b="1">
                <a:solidFill>
                  <a:srgbClr val="4338CA"/>
                </a:solidFill>
                <a:latin typeface="Calibri"/>
              </a:defRPr>
            </a:pPr>
            <a:r>
              <a:t>Milestones Accomplished Checklist</a:t>
            </a:r>
          </a:p>
        </p:txBody>
      </p:sp>
      <p:sp>
        <p:nvSpPr>
          <p:cNvPr id="13" name="TextBox 12"/>
          <p:cNvSpPr txBox="1"/>
          <p:nvPr/>
        </p:nvSpPr>
        <p:spPr>
          <a:xfrm>
            <a:off x="914400" y="2240280"/>
            <a:ext cx="4846320" cy="3749039"/>
          </a:xfrm>
          <a:prstGeom prst="rect">
            <a:avLst/>
          </a:prstGeom>
          <a:noFill/>
        </p:spPr>
        <p:txBody>
          <a:bodyPr wrap="square">
            <a:spAutoFit/>
          </a:bodyPr>
          <a:lstStyle/>
          <a:p>
            <a:pPr>
              <a:spcAft>
                <a:spcPts val="1000"/>
              </a:spcAft>
              <a:defRPr sz="1100">
                <a:solidFill>
                  <a:srgbClr val="0F172A"/>
                </a:solidFill>
                <a:latin typeface="Calibri"/>
              </a:defRPr>
            </a:pPr>
            <a:r>
              <a:t>•  ✅ Requirement Analysis &amp; SRS Completed: Project scope, user stories, and rubric compliance confirmed.</a:t>
            </a:r>
          </a:p>
          <a:p>
            <a:pPr>
              <a:spcAft>
                <a:spcPts val="1000"/>
              </a:spcAft>
              <a:defRPr sz="1100">
                <a:solidFill>
                  <a:srgbClr val="0F172A"/>
                </a:solidFill>
                <a:latin typeface="Calibri"/>
              </a:defRPr>
            </a:pPr>
            <a:r>
              <a:t>•  ✅ Full-Stack Architecture Implemented: React 18 client seamlessly talking to FastAPI backend on port 8000.</a:t>
            </a:r>
          </a:p>
          <a:p>
            <a:pPr>
              <a:spcAft>
                <a:spcPts val="1000"/>
              </a:spcAft>
              <a:defRPr sz="1100">
                <a:solidFill>
                  <a:srgbClr val="0F172A"/>
                </a:solidFill>
                <a:latin typeface="Calibri"/>
              </a:defRPr>
            </a:pPr>
            <a:r>
              <a:t>•  ✅ Dual-Stream Processing Verified: OpenCV frame sampling + Whisper audio ASR executing in sequence.</a:t>
            </a:r>
          </a:p>
          <a:p>
            <a:pPr>
              <a:spcAft>
                <a:spcPts val="1000"/>
              </a:spcAft>
              <a:defRPr sz="1100">
                <a:solidFill>
                  <a:srgbClr val="0F172A"/>
                </a:solidFill>
                <a:latin typeface="Calibri"/>
              </a:defRPr>
            </a:pPr>
            <a:r>
              <a:t>•  ✅ Composite Scoring Formula Calibrated: 7-factor weights with penalty deduction logic validated.</a:t>
            </a:r>
          </a:p>
          <a:p>
            <a:pPr>
              <a:spcAft>
                <a:spcPts val="1000"/>
              </a:spcAft>
              <a:defRPr sz="1100">
                <a:solidFill>
                  <a:srgbClr val="0F172A"/>
                </a:solidFill>
                <a:latin typeface="Calibri"/>
              </a:defRPr>
            </a:pPr>
            <a:r>
              <a:t>•  ✅ Interactive Avatar &amp; Mindset Drills Added: Three.js 3D coach and 4-7-8 breathing circle functioning.</a:t>
            </a:r>
          </a:p>
          <a:p>
            <a:pPr>
              <a:spcAft>
                <a:spcPts val="1000"/>
              </a:spcAft>
              <a:defRPr sz="1100">
                <a:solidFill>
                  <a:srgbClr val="0F172A"/>
                </a:solidFill>
                <a:latin typeface="Calibri"/>
              </a:defRPr>
            </a:pPr>
            <a:r>
              <a:t>•  ✅ Database Persistence Active: SQLite database (confidence.db) created with 17 registered users.</a:t>
            </a:r>
          </a:p>
        </p:txBody>
      </p:sp>
      <p:sp>
        <p:nvSpPr>
          <p:cNvPr id="14" name="Rounded Rectangle 13"/>
          <p:cNvSpPr/>
          <p:nvPr/>
        </p:nvSpPr>
        <p:spPr>
          <a:xfrm>
            <a:off x="62179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47088"/>
            <a:ext cx="4846320" cy="365760"/>
          </a:xfrm>
          <a:prstGeom prst="rect">
            <a:avLst/>
          </a:prstGeom>
          <a:noFill/>
        </p:spPr>
        <p:txBody>
          <a:bodyPr wrap="none">
            <a:spAutoFit/>
          </a:bodyPr>
          <a:lstStyle/>
          <a:p>
            <a:pPr>
              <a:defRPr sz="1400" b="1">
                <a:solidFill>
                  <a:srgbClr val="16A34A"/>
                </a:solidFill>
                <a:latin typeface="Calibri"/>
              </a:defRPr>
            </a:pPr>
            <a:r>
              <a:t>Real Session Verification (confidence.db)</a:t>
            </a:r>
          </a:p>
        </p:txBody>
      </p:sp>
      <p:sp>
        <p:nvSpPr>
          <p:cNvPr id="16" name="Rounded Rectangle 15"/>
          <p:cNvSpPr/>
          <p:nvPr/>
        </p:nvSpPr>
        <p:spPr>
          <a:xfrm>
            <a:off x="6400800" y="2240280"/>
            <a:ext cx="4846320" cy="8686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6A34A"/>
                </a:solidFill>
                <a:latin typeface="Calibri"/>
              </a:defRPr>
            </a:pPr>
            <a:r>
              <a:t>Verified Test Result: 78.51% Confidence Score</a:t>
            </a:r>
          </a:p>
          <a:p>
            <a:pPr algn="ctr">
              <a:defRPr sz="1050">
                <a:solidFill>
                  <a:srgbClr val="0F172A"/>
                </a:solidFill>
                <a:latin typeface="Calibri"/>
              </a:defRPr>
            </a:pPr>
            <a:r>
              <a:t>Actual Database Record ID #2 | 90-Second Mock Answer</a:t>
            </a:r>
          </a:p>
        </p:txBody>
      </p:sp>
      <p:sp>
        <p:nvSpPr>
          <p:cNvPr id="17" name="TextBox 16"/>
          <p:cNvSpPr txBox="1"/>
          <p:nvPr/>
        </p:nvSpPr>
        <p:spPr>
          <a:xfrm>
            <a:off x="6400800" y="3246120"/>
            <a:ext cx="4846320" cy="2834640"/>
          </a:xfrm>
          <a:prstGeom prst="rect">
            <a:avLst/>
          </a:prstGeom>
          <a:noFill/>
        </p:spPr>
        <p:txBody>
          <a:bodyPr wrap="square">
            <a:spAutoFit/>
          </a:bodyPr>
          <a:lstStyle/>
          <a:p>
            <a:pPr>
              <a:spcAft>
                <a:spcPts val="600"/>
              </a:spcAft>
              <a:defRPr sz="1150">
                <a:solidFill>
                  <a:srgbClr val="0F172A"/>
                </a:solidFill>
                <a:latin typeface="Calibri"/>
              </a:defRPr>
            </a:pPr>
            <a:r>
              <a:t>•  Face Framing Visibility: 100% (Face perfectly centered in webcam)</a:t>
            </a:r>
          </a:p>
          <a:p>
            <a:pPr>
              <a:spcAft>
                <a:spcPts val="600"/>
              </a:spcAft>
              <a:defRPr sz="1150">
                <a:solidFill>
                  <a:srgbClr val="0F172A"/>
                </a:solidFill>
                <a:latin typeface="Calibri"/>
              </a:defRPr>
            </a:pPr>
            <a:r>
              <a:t>•  Smile Percentage: 64.09% (Warm, natural facial expressions)</a:t>
            </a:r>
          </a:p>
          <a:p>
            <a:pPr>
              <a:spcAft>
                <a:spcPts val="600"/>
              </a:spcAft>
              <a:defRPr sz="1150">
                <a:solidFill>
                  <a:srgbClr val="0F172A"/>
                </a:solidFill>
                <a:latin typeface="Calibri"/>
              </a:defRPr>
            </a:pPr>
            <a:r>
              <a:t>•  Posture Alignment: 100% (Upright and steady throughout speech)</a:t>
            </a:r>
          </a:p>
          <a:p>
            <a:pPr>
              <a:spcAft>
                <a:spcPts val="600"/>
              </a:spcAft>
              <a:defRPr sz="1150">
                <a:solidFill>
                  <a:srgbClr val="0F172A"/>
                </a:solidFill>
                <a:latin typeface="Calibri"/>
              </a:defRPr>
            </a:pPr>
            <a:r>
              <a:t>•  Speaking Pace: 95.0 WPM (Calm and deliberate delivery)</a:t>
            </a:r>
          </a:p>
          <a:p>
            <a:pPr>
              <a:spcAft>
                <a:spcPts val="600"/>
              </a:spcAft>
              <a:defRPr sz="1150">
                <a:solidFill>
                  <a:srgbClr val="0F172A"/>
                </a:solidFill>
                <a:latin typeface="Calibri"/>
              </a:defRPr>
            </a:pPr>
            <a:r>
              <a:t>•  Filler Word Count: 0 (Zero 'um', 'uh', or 'like' hesitations)</a:t>
            </a:r>
          </a:p>
          <a:p>
            <a:pPr>
              <a:spcAft>
                <a:spcPts val="600"/>
              </a:spcAft>
              <a:defRPr sz="1150">
                <a:solidFill>
                  <a:srgbClr val="0F172A"/>
                </a:solidFill>
                <a:latin typeface="Calibri"/>
              </a:defRPr>
            </a:pPr>
            <a:r>
              <a:t>•  Speech Score: 99.0 / 100 (High clarity, articulate delivery)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EXPECTED OUTCOMES</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EXPECTED OUTCOMES &amp; WORKING DELIVERABLES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Tangible deliverables and actual user interface screenshots from the working prototype.</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13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694944" y="1700784"/>
            <a:ext cx="3401568" cy="208483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_login_landing.png"/>
          <p:cNvPicPr>
            <a:picLocks noChangeAspect="1"/>
          </p:cNvPicPr>
          <p:nvPr/>
        </p:nvPicPr>
        <p:blipFill>
          <a:blip r:embed="rId2"/>
          <a:stretch>
            <a:fillRect/>
          </a:stretch>
        </p:blipFill>
        <p:spPr>
          <a:xfrm>
            <a:off x="731520" y="1737360"/>
            <a:ext cx="3328416" cy="2011680"/>
          </a:xfrm>
          <a:prstGeom prst="rect">
            <a:avLst/>
          </a:prstGeom>
        </p:spPr>
      </p:pic>
      <p:sp>
        <p:nvSpPr>
          <p:cNvPr id="13" name="Rounded Rectangle 12"/>
          <p:cNvSpPr/>
          <p:nvPr/>
        </p:nvSpPr>
        <p:spPr>
          <a:xfrm>
            <a:off x="731520" y="3886200"/>
            <a:ext cx="3328416"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95928"/>
            <a:ext cx="2962656" cy="365760"/>
          </a:xfrm>
          <a:prstGeom prst="rect">
            <a:avLst/>
          </a:prstGeom>
          <a:noFill/>
        </p:spPr>
        <p:txBody>
          <a:bodyPr wrap="none">
            <a:spAutoFit/>
          </a:bodyPr>
          <a:lstStyle/>
          <a:p>
            <a:pPr>
              <a:defRPr sz="1400" b="1">
                <a:solidFill>
                  <a:srgbClr val="4338CA"/>
                </a:solidFill>
                <a:latin typeface="Calibri"/>
              </a:defRPr>
            </a:pPr>
            <a:r>
              <a:t>Deliverable 1: Auth &amp; Landing</a:t>
            </a:r>
          </a:p>
        </p:txBody>
      </p:sp>
      <p:sp>
        <p:nvSpPr>
          <p:cNvPr id="15" name="TextBox 14"/>
          <p:cNvSpPr txBox="1"/>
          <p:nvPr/>
        </p:nvSpPr>
        <p:spPr>
          <a:xfrm>
            <a:off x="868680" y="4343400"/>
            <a:ext cx="3054096" cy="1783080"/>
          </a:xfrm>
          <a:prstGeom prst="rect">
            <a:avLst/>
          </a:prstGeom>
          <a:noFill/>
        </p:spPr>
        <p:txBody>
          <a:bodyPr wrap="square">
            <a:spAutoFit/>
          </a:bodyPr>
          <a:lstStyle/>
          <a:p>
            <a:pPr>
              <a:spcAft>
                <a:spcPts val="600"/>
              </a:spcAft>
              <a:defRPr sz="1100">
                <a:solidFill>
                  <a:srgbClr val="0F172A"/>
                </a:solidFill>
                <a:latin typeface="Calibri"/>
              </a:defRPr>
            </a:pPr>
            <a:r>
              <a:t>•  Distraction-free welcome screen with quick onboarding.</a:t>
            </a:r>
          </a:p>
          <a:p>
            <a:pPr>
              <a:spcAft>
                <a:spcPts val="600"/>
              </a:spcAft>
              <a:defRPr sz="1100">
                <a:solidFill>
                  <a:srgbClr val="0F172A"/>
                </a:solidFill>
                <a:latin typeface="Calibri"/>
              </a:defRPr>
            </a:pPr>
            <a:r>
              <a:t>•  Highlights facial confidence, eye contact, and posture.</a:t>
            </a:r>
          </a:p>
          <a:p>
            <a:pPr>
              <a:spcAft>
                <a:spcPts val="600"/>
              </a:spcAft>
              <a:defRPr sz="1100">
                <a:solidFill>
                  <a:srgbClr val="0F172A"/>
                </a:solidFill>
                <a:latin typeface="Calibri"/>
              </a:defRPr>
            </a:pPr>
            <a:r>
              <a:t>•  Secure email signup with Argon2 encryption.</a:t>
            </a:r>
          </a:p>
        </p:txBody>
      </p:sp>
      <p:sp>
        <p:nvSpPr>
          <p:cNvPr id="16" name="Rounded Rectangle 15"/>
          <p:cNvSpPr/>
          <p:nvPr/>
        </p:nvSpPr>
        <p:spPr>
          <a:xfrm>
            <a:off x="4389120" y="1700784"/>
            <a:ext cx="3401568" cy="208483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2_main_dashboard.png"/>
          <p:cNvPicPr>
            <a:picLocks noChangeAspect="1"/>
          </p:cNvPicPr>
          <p:nvPr/>
        </p:nvPicPr>
        <p:blipFill>
          <a:blip r:embed="rId3"/>
          <a:stretch>
            <a:fillRect/>
          </a:stretch>
        </p:blipFill>
        <p:spPr>
          <a:xfrm>
            <a:off x="4425696" y="1737360"/>
            <a:ext cx="3328416" cy="2011680"/>
          </a:xfrm>
          <a:prstGeom prst="rect">
            <a:avLst/>
          </a:prstGeom>
        </p:spPr>
      </p:pic>
      <p:sp>
        <p:nvSpPr>
          <p:cNvPr id="18" name="Rounded Rectangle 17"/>
          <p:cNvSpPr/>
          <p:nvPr/>
        </p:nvSpPr>
        <p:spPr>
          <a:xfrm>
            <a:off x="4425696" y="3886200"/>
            <a:ext cx="3328416"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3995928"/>
            <a:ext cx="2962656" cy="365760"/>
          </a:xfrm>
          <a:prstGeom prst="rect">
            <a:avLst/>
          </a:prstGeom>
          <a:noFill/>
        </p:spPr>
        <p:txBody>
          <a:bodyPr wrap="none">
            <a:spAutoFit/>
          </a:bodyPr>
          <a:lstStyle/>
          <a:p>
            <a:pPr>
              <a:defRPr sz="1400" b="1">
                <a:solidFill>
                  <a:srgbClr val="4338CA"/>
                </a:solidFill>
                <a:latin typeface="Calibri"/>
              </a:defRPr>
            </a:pPr>
            <a:r>
              <a:t>Deliverable 2: Student Dashboard</a:t>
            </a:r>
          </a:p>
        </p:txBody>
      </p:sp>
      <p:sp>
        <p:nvSpPr>
          <p:cNvPr id="20" name="TextBox 19"/>
          <p:cNvSpPr txBox="1"/>
          <p:nvPr/>
        </p:nvSpPr>
        <p:spPr>
          <a:xfrm>
            <a:off x="4562856" y="4343400"/>
            <a:ext cx="3054096" cy="1783080"/>
          </a:xfrm>
          <a:prstGeom prst="rect">
            <a:avLst/>
          </a:prstGeom>
          <a:noFill/>
        </p:spPr>
        <p:txBody>
          <a:bodyPr wrap="square">
            <a:spAutoFit/>
          </a:bodyPr>
          <a:lstStyle/>
          <a:p>
            <a:pPr>
              <a:spcAft>
                <a:spcPts val="600"/>
              </a:spcAft>
              <a:defRPr sz="1100">
                <a:solidFill>
                  <a:srgbClr val="0F172A"/>
                </a:solidFill>
                <a:latin typeface="Calibri"/>
              </a:defRPr>
            </a:pPr>
            <a:r>
              <a:t>•  Session history overview and personal best score tracker.</a:t>
            </a:r>
          </a:p>
          <a:p>
            <a:pPr>
              <a:spcAft>
                <a:spcPts val="600"/>
              </a:spcAft>
              <a:defRPr sz="1100">
                <a:solidFill>
                  <a:srgbClr val="0F172A"/>
                </a:solidFill>
                <a:latin typeface="Calibri"/>
              </a:defRPr>
            </a:pPr>
            <a:r>
              <a:t>•  Local storage monitor for recorded video answers.</a:t>
            </a:r>
          </a:p>
          <a:p>
            <a:pPr>
              <a:spcAft>
                <a:spcPts val="600"/>
              </a:spcAft>
              <a:defRPr sz="1100">
                <a:solidFill>
                  <a:srgbClr val="0F172A"/>
                </a:solidFill>
                <a:latin typeface="Calibri"/>
              </a:defRPr>
            </a:pPr>
            <a:r>
              <a:t>•  1-click launch for live practice and mindset modules.</a:t>
            </a:r>
          </a:p>
        </p:txBody>
      </p:sp>
      <p:sp>
        <p:nvSpPr>
          <p:cNvPr id="21" name="Rounded Rectangle 20"/>
          <p:cNvSpPr/>
          <p:nvPr/>
        </p:nvSpPr>
        <p:spPr>
          <a:xfrm>
            <a:off x="8083296" y="1700784"/>
            <a:ext cx="3401568" cy="2084832"/>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3_practice_coach.png"/>
          <p:cNvPicPr>
            <a:picLocks noChangeAspect="1"/>
          </p:cNvPicPr>
          <p:nvPr/>
        </p:nvPicPr>
        <p:blipFill>
          <a:blip r:embed="rId4"/>
          <a:stretch>
            <a:fillRect/>
          </a:stretch>
        </p:blipFill>
        <p:spPr>
          <a:xfrm>
            <a:off x="8119872" y="1737360"/>
            <a:ext cx="3328416" cy="2011680"/>
          </a:xfrm>
          <a:prstGeom prst="rect">
            <a:avLst/>
          </a:prstGeom>
        </p:spPr>
      </p:pic>
      <p:sp>
        <p:nvSpPr>
          <p:cNvPr id="23" name="Rounded Rectangle 22"/>
          <p:cNvSpPr/>
          <p:nvPr/>
        </p:nvSpPr>
        <p:spPr>
          <a:xfrm>
            <a:off x="8119872" y="3886200"/>
            <a:ext cx="3328416" cy="23317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3995928"/>
            <a:ext cx="2962656" cy="365760"/>
          </a:xfrm>
          <a:prstGeom prst="rect">
            <a:avLst/>
          </a:prstGeom>
          <a:noFill/>
        </p:spPr>
        <p:txBody>
          <a:bodyPr wrap="none">
            <a:spAutoFit/>
          </a:bodyPr>
          <a:lstStyle/>
          <a:p>
            <a:pPr>
              <a:defRPr sz="1400" b="1">
                <a:solidFill>
                  <a:srgbClr val="4338CA"/>
                </a:solidFill>
                <a:latin typeface="Calibri"/>
              </a:defRPr>
            </a:pPr>
            <a:r>
              <a:t>Deliverable 3: AI Practice Coach</a:t>
            </a:r>
          </a:p>
        </p:txBody>
      </p:sp>
      <p:sp>
        <p:nvSpPr>
          <p:cNvPr id="25" name="TextBox 24"/>
          <p:cNvSpPr txBox="1"/>
          <p:nvPr/>
        </p:nvSpPr>
        <p:spPr>
          <a:xfrm>
            <a:off x="8257032" y="4343400"/>
            <a:ext cx="3054096" cy="1783080"/>
          </a:xfrm>
          <a:prstGeom prst="rect">
            <a:avLst/>
          </a:prstGeom>
          <a:noFill/>
        </p:spPr>
        <p:txBody>
          <a:bodyPr wrap="square">
            <a:spAutoFit/>
          </a:bodyPr>
          <a:lstStyle/>
          <a:p>
            <a:pPr>
              <a:spcAft>
                <a:spcPts val="600"/>
              </a:spcAft>
              <a:defRPr sz="1100">
                <a:solidFill>
                  <a:srgbClr val="0F172A"/>
                </a:solidFill>
                <a:latin typeface="Calibri"/>
              </a:defRPr>
            </a:pPr>
            <a:r>
              <a:t>•  Live webcam recording box with upload fallback.</a:t>
            </a:r>
          </a:p>
          <a:p>
            <a:pPr>
              <a:spcAft>
                <a:spcPts val="600"/>
              </a:spcAft>
              <a:defRPr sz="1100">
                <a:solidFill>
                  <a:srgbClr val="0F172A"/>
                </a:solidFill>
                <a:latin typeface="Calibri"/>
              </a:defRPr>
            </a:pPr>
            <a:r>
              <a:t>•  Dual-stream analysis output in under 10 seconds.</a:t>
            </a:r>
          </a:p>
          <a:p>
            <a:pPr>
              <a:spcAft>
                <a:spcPts val="600"/>
              </a:spcAft>
              <a:defRPr sz="1100">
                <a:solidFill>
                  <a:srgbClr val="0F172A"/>
                </a:solidFill>
                <a:latin typeface="Calibri"/>
              </a:defRPr>
            </a:pPr>
            <a:r>
              <a:t>•  Integrated Gemini AI mentor chat with 1-click advice.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PROJECT BUDGET</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BUDGET ESTIMATION &amp; RESOURCE REQUIREMENTS</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Financial feasibility analysis demonstrating zero-cost open-source deployment for students.</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14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621792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5852160" cy="365760"/>
          </a:xfrm>
          <a:prstGeom prst="rect">
            <a:avLst/>
          </a:prstGeom>
          <a:noFill/>
        </p:spPr>
        <p:txBody>
          <a:bodyPr wrap="none">
            <a:spAutoFit/>
          </a:bodyPr>
          <a:lstStyle/>
          <a:p>
            <a:pPr>
              <a:defRPr sz="1400" b="1">
                <a:solidFill>
                  <a:srgbClr val="4338CA"/>
                </a:solidFill>
                <a:latin typeface="Calibri"/>
              </a:defRPr>
            </a:pPr>
            <a:r>
              <a:t>Detailed Cost Estimation Table</a:t>
            </a:r>
          </a:p>
        </p:txBody>
      </p:sp>
      <p:graphicFrame>
        <p:nvGraphicFramePr>
          <p:cNvPr id="13" name="Table 12"/>
          <p:cNvGraphicFramePr>
            <a:graphicFrameLocks noGrp="1"/>
          </p:cNvGraphicFramePr>
          <p:nvPr/>
        </p:nvGraphicFramePr>
        <p:xfrm>
          <a:off x="914400" y="2240280"/>
          <a:ext cx="5852160" cy="3749039"/>
        </p:xfrm>
        <a:graphic>
          <a:graphicData uri="http://schemas.openxmlformats.org/drawingml/2006/table">
            <a:tbl>
              <a:tblPr firstRow="1" bandRow="1">
                <a:tableStyleId>{5C22544A-7EE6-4342-B048-85BDC9FD1C3A}</a:tableStyleId>
              </a:tblPr>
              <a:tblGrid>
                <a:gridCol w="2011680"/>
                <a:gridCol w="1645920"/>
                <a:gridCol w="1097280"/>
                <a:gridCol w="1097280"/>
              </a:tblGrid>
              <a:tr h="624839">
                <a:tc>
                  <a:txBody>
                    <a:bodyPr wrap="square"/>
                    <a:lstStyle/>
                    <a:p>
                      <a:pPr algn="ctr">
                        <a:defRPr sz="1000" b="1">
                          <a:solidFill>
                            <a:srgbClr val="FFFFFF"/>
                          </a:solidFill>
                          <a:latin typeface="Calibri"/>
                        </a:defRPr>
                      </a:pPr>
                      <a:r>
                        <a:t>Item / Component</a:t>
                      </a:r>
                    </a:p>
                  </a:txBody>
                  <a:tcPr anchor="ctr">
                    <a:solidFill>
                      <a:srgbClr val="4338CA"/>
                    </a:solidFill>
                  </a:tcPr>
                </a:tc>
                <a:tc>
                  <a:txBody>
                    <a:bodyPr wrap="square"/>
                    <a:lstStyle/>
                    <a:p>
                      <a:pPr algn="ctr">
                        <a:defRPr sz="1000" b="1">
                          <a:solidFill>
                            <a:srgbClr val="FFFFFF"/>
                          </a:solidFill>
                          <a:latin typeface="Calibri"/>
                        </a:defRPr>
                      </a:pPr>
                      <a:r>
                        <a:t>Technology / Specification</a:t>
                      </a:r>
                    </a:p>
                  </a:txBody>
                  <a:tcPr anchor="ctr">
                    <a:solidFill>
                      <a:srgbClr val="4338CA"/>
                    </a:solidFill>
                  </a:tcPr>
                </a:tc>
                <a:tc>
                  <a:txBody>
                    <a:bodyPr wrap="square"/>
                    <a:lstStyle/>
                    <a:p>
                      <a:pPr algn="ctr">
                        <a:defRPr sz="1000" b="1">
                          <a:solidFill>
                            <a:srgbClr val="FFFFFF"/>
                          </a:solidFill>
                          <a:latin typeface="Calibri"/>
                        </a:defRPr>
                      </a:pPr>
                      <a:r>
                        <a:t>Type</a:t>
                      </a:r>
                    </a:p>
                  </a:txBody>
                  <a:tcPr anchor="ctr">
                    <a:solidFill>
                      <a:srgbClr val="4338CA"/>
                    </a:solidFill>
                  </a:tcPr>
                </a:tc>
                <a:tc>
                  <a:txBody>
                    <a:bodyPr wrap="square"/>
                    <a:lstStyle/>
                    <a:p>
                      <a:pPr algn="ctr">
                        <a:defRPr sz="1000" b="1">
                          <a:solidFill>
                            <a:srgbClr val="FFFFFF"/>
                          </a:solidFill>
                          <a:latin typeface="Calibri"/>
                        </a:defRPr>
                      </a:pPr>
                      <a:r>
                        <a:t>Cost (INR)</a:t>
                      </a:r>
                    </a:p>
                  </a:txBody>
                  <a:tcPr anchor="ctr">
                    <a:solidFill>
                      <a:srgbClr val="4338CA"/>
                    </a:solidFill>
                  </a:tcPr>
                </a:tc>
              </a:tr>
              <a:tr h="624839">
                <a:tc>
                  <a:txBody>
                    <a:bodyPr wrap="square"/>
                    <a:lstStyle/>
                    <a:p>
                      <a:pPr algn="l">
                        <a:defRPr sz="1000" b="0">
                          <a:solidFill>
                            <a:srgbClr val="0F172A"/>
                          </a:solidFill>
                          <a:latin typeface="Calibri"/>
                        </a:defRPr>
                      </a:pPr>
                      <a:r>
                        <a:t>Client &amp; Web Interface</a:t>
                      </a:r>
                    </a:p>
                  </a:txBody>
                  <a:tcPr anchor="ctr">
                    <a:solidFill>
                      <a:srgbClr val="EEF2FF"/>
                    </a:solidFill>
                  </a:tcPr>
                </a:tc>
                <a:tc>
                  <a:txBody>
                    <a:bodyPr wrap="square"/>
                    <a:lstStyle/>
                    <a:p>
                      <a:pPr algn="l">
                        <a:defRPr sz="1000" b="0">
                          <a:solidFill>
                            <a:srgbClr val="0F172A"/>
                          </a:solidFill>
                          <a:latin typeface="Calibri"/>
                        </a:defRPr>
                      </a:pPr>
                      <a:r>
                        <a:t>React 18, HTML5, Vanilla CSS</a:t>
                      </a:r>
                    </a:p>
                  </a:txBody>
                  <a:tcPr anchor="ctr">
                    <a:solidFill>
                      <a:srgbClr val="EEF2FF"/>
                    </a:solidFill>
                  </a:tcPr>
                </a:tc>
                <a:tc>
                  <a:txBody>
                    <a:bodyPr wrap="square"/>
                    <a:lstStyle/>
                    <a:p>
                      <a:pPr algn="ctr">
                        <a:defRPr sz="1000" b="0">
                          <a:solidFill>
                            <a:srgbClr val="0F172A"/>
                          </a:solidFill>
                          <a:latin typeface="Calibri"/>
                        </a:defRPr>
                      </a:pPr>
                      <a:r>
                        <a:t>Open-Source</a:t>
                      </a:r>
                    </a:p>
                  </a:txBody>
                  <a:tcPr anchor="ctr">
                    <a:solidFill>
                      <a:srgbClr val="EEF2FF"/>
                    </a:solidFill>
                  </a:tcPr>
                </a:tc>
                <a:tc>
                  <a:txBody>
                    <a:bodyPr wrap="square"/>
                    <a:lstStyle/>
                    <a:p>
                      <a:pPr algn="ctr">
                        <a:defRPr sz="1000" b="1">
                          <a:solidFill>
                            <a:srgbClr val="16A34A"/>
                          </a:solidFill>
                          <a:latin typeface="Calibri"/>
                        </a:defRPr>
                      </a:pPr>
                      <a:r>
                        <a:t>Rs. 0.00</a:t>
                      </a:r>
                    </a:p>
                  </a:txBody>
                  <a:tcPr anchor="ctr">
                    <a:solidFill>
                      <a:srgbClr val="EEF2FF"/>
                    </a:solidFill>
                  </a:tcPr>
                </a:tc>
              </a:tr>
              <a:tr h="624839">
                <a:tc>
                  <a:txBody>
                    <a:bodyPr wrap="square"/>
                    <a:lstStyle/>
                    <a:p>
                      <a:pPr algn="l">
                        <a:defRPr sz="1000" b="0">
                          <a:solidFill>
                            <a:srgbClr val="0F172A"/>
                          </a:solidFill>
                          <a:latin typeface="Calibri"/>
                        </a:defRPr>
                      </a:pPr>
                      <a:r>
                        <a:t>Backend Web Framework</a:t>
                      </a:r>
                    </a:p>
                  </a:txBody>
                  <a:tcPr anchor="ctr">
                    <a:solidFill>
                      <a:srgbClr val="FFFFFF"/>
                    </a:solidFill>
                  </a:tcPr>
                </a:tc>
                <a:tc>
                  <a:txBody>
                    <a:bodyPr wrap="square"/>
                    <a:lstStyle/>
                    <a:p>
                      <a:pPr algn="l">
                        <a:defRPr sz="1000" b="0">
                          <a:solidFill>
                            <a:srgbClr val="0F172A"/>
                          </a:solidFill>
                          <a:latin typeface="Calibri"/>
                        </a:defRPr>
                      </a:pPr>
                      <a:r>
                        <a:t>FastAPI &amp; Python 3.10+ (Uvicorn)</a:t>
                      </a:r>
                    </a:p>
                  </a:txBody>
                  <a:tcPr anchor="ctr">
                    <a:solidFill>
                      <a:srgbClr val="FFFFFF"/>
                    </a:solidFill>
                  </a:tcPr>
                </a:tc>
                <a:tc>
                  <a:txBody>
                    <a:bodyPr wrap="square"/>
                    <a:lstStyle/>
                    <a:p>
                      <a:pPr algn="ctr">
                        <a:defRPr sz="1000" b="0">
                          <a:solidFill>
                            <a:srgbClr val="0F172A"/>
                          </a:solidFill>
                          <a:latin typeface="Calibri"/>
                        </a:defRPr>
                      </a:pPr>
                      <a:r>
                        <a:t>Open-Source</a:t>
                      </a:r>
                    </a:p>
                  </a:txBody>
                  <a:tcPr anchor="ctr">
                    <a:solidFill>
                      <a:srgbClr val="FFFFFF"/>
                    </a:solidFill>
                  </a:tcPr>
                </a:tc>
                <a:tc>
                  <a:txBody>
                    <a:bodyPr wrap="square"/>
                    <a:lstStyle/>
                    <a:p>
                      <a:pPr algn="ctr">
                        <a:defRPr sz="1000" b="1">
                          <a:solidFill>
                            <a:srgbClr val="16A34A"/>
                          </a:solidFill>
                          <a:latin typeface="Calibri"/>
                        </a:defRPr>
                      </a:pPr>
                      <a:r>
                        <a:t>Rs. 0.00</a:t>
                      </a:r>
                    </a:p>
                  </a:txBody>
                  <a:tcPr anchor="ctr">
                    <a:solidFill>
                      <a:srgbClr val="FFFFFF"/>
                    </a:solidFill>
                  </a:tcPr>
                </a:tc>
              </a:tr>
              <a:tr h="624839">
                <a:tc>
                  <a:txBody>
                    <a:bodyPr wrap="square"/>
                    <a:lstStyle/>
                    <a:p>
                      <a:pPr algn="l">
                        <a:defRPr sz="1000" b="0">
                          <a:solidFill>
                            <a:srgbClr val="0F172A"/>
                          </a:solidFill>
                          <a:latin typeface="Calibri"/>
                        </a:defRPr>
                      </a:pPr>
                      <a:r>
                        <a:t>Vision &amp; Face Analytics</a:t>
                      </a:r>
                    </a:p>
                  </a:txBody>
                  <a:tcPr anchor="ctr">
                    <a:solidFill>
                      <a:srgbClr val="EEF2FF"/>
                    </a:solidFill>
                  </a:tcPr>
                </a:tc>
                <a:tc>
                  <a:txBody>
                    <a:bodyPr wrap="square"/>
                    <a:lstStyle/>
                    <a:p>
                      <a:pPr algn="l">
                        <a:defRPr sz="1000" b="0">
                          <a:solidFill>
                            <a:srgbClr val="0F172A"/>
                          </a:solidFill>
                          <a:latin typeface="Calibri"/>
                        </a:defRPr>
                      </a:pPr>
                      <a:r>
                        <a:t>OpenCV (Haar Cascade Classifiers)</a:t>
                      </a:r>
                    </a:p>
                  </a:txBody>
                  <a:tcPr anchor="ctr">
                    <a:solidFill>
                      <a:srgbClr val="EEF2FF"/>
                    </a:solidFill>
                  </a:tcPr>
                </a:tc>
                <a:tc>
                  <a:txBody>
                    <a:bodyPr wrap="square"/>
                    <a:lstStyle/>
                    <a:p>
                      <a:pPr algn="ctr">
                        <a:defRPr sz="1000" b="0">
                          <a:solidFill>
                            <a:srgbClr val="0F172A"/>
                          </a:solidFill>
                          <a:latin typeface="Calibri"/>
                        </a:defRPr>
                      </a:pPr>
                      <a:r>
                        <a:t>Open-Source</a:t>
                      </a:r>
                    </a:p>
                  </a:txBody>
                  <a:tcPr anchor="ctr">
                    <a:solidFill>
                      <a:srgbClr val="EEF2FF"/>
                    </a:solidFill>
                  </a:tcPr>
                </a:tc>
                <a:tc>
                  <a:txBody>
                    <a:bodyPr wrap="square"/>
                    <a:lstStyle/>
                    <a:p>
                      <a:pPr algn="ctr">
                        <a:defRPr sz="1000" b="1">
                          <a:solidFill>
                            <a:srgbClr val="16A34A"/>
                          </a:solidFill>
                          <a:latin typeface="Calibri"/>
                        </a:defRPr>
                      </a:pPr>
                      <a:r>
                        <a:t>Rs. 0.00</a:t>
                      </a:r>
                    </a:p>
                  </a:txBody>
                  <a:tcPr anchor="ctr">
                    <a:solidFill>
                      <a:srgbClr val="EEF2FF"/>
                    </a:solidFill>
                  </a:tcPr>
                </a:tc>
              </a:tr>
              <a:tr h="624839">
                <a:tc>
                  <a:txBody>
                    <a:bodyPr wrap="square"/>
                    <a:lstStyle/>
                    <a:p>
                      <a:pPr algn="l">
                        <a:defRPr sz="1000" b="0">
                          <a:solidFill>
                            <a:srgbClr val="0F172A"/>
                          </a:solidFill>
                          <a:latin typeface="Calibri"/>
                        </a:defRPr>
                      </a:pPr>
                      <a:r>
                        <a:t>Speech Recognition (ASR)</a:t>
                      </a:r>
                    </a:p>
                  </a:txBody>
                  <a:tcPr anchor="ctr">
                    <a:solidFill>
                      <a:srgbClr val="FFFFFF"/>
                    </a:solidFill>
                  </a:tcPr>
                </a:tc>
                <a:tc>
                  <a:txBody>
                    <a:bodyPr wrap="square"/>
                    <a:lstStyle/>
                    <a:p>
                      <a:pPr algn="l">
                        <a:defRPr sz="1000" b="0">
                          <a:solidFill>
                            <a:srgbClr val="0F172A"/>
                          </a:solidFill>
                          <a:latin typeface="Calibri"/>
                        </a:defRPr>
                      </a:pPr>
                      <a:r>
                        <a:t>OpenAI Whisper ('base' model)</a:t>
                      </a:r>
                    </a:p>
                  </a:txBody>
                  <a:tcPr anchor="ctr">
                    <a:solidFill>
                      <a:srgbClr val="FFFFFF"/>
                    </a:solidFill>
                  </a:tcPr>
                </a:tc>
                <a:tc>
                  <a:txBody>
                    <a:bodyPr wrap="square"/>
                    <a:lstStyle/>
                    <a:p>
                      <a:pPr algn="ctr">
                        <a:defRPr sz="1000" b="0">
                          <a:solidFill>
                            <a:srgbClr val="0F172A"/>
                          </a:solidFill>
                          <a:latin typeface="Calibri"/>
                        </a:defRPr>
                      </a:pPr>
                      <a:r>
                        <a:t>Open-Source</a:t>
                      </a:r>
                    </a:p>
                  </a:txBody>
                  <a:tcPr anchor="ctr">
                    <a:solidFill>
                      <a:srgbClr val="FFFFFF"/>
                    </a:solidFill>
                  </a:tcPr>
                </a:tc>
                <a:tc>
                  <a:txBody>
                    <a:bodyPr wrap="square"/>
                    <a:lstStyle/>
                    <a:p>
                      <a:pPr algn="ctr">
                        <a:defRPr sz="1000" b="1">
                          <a:solidFill>
                            <a:srgbClr val="16A34A"/>
                          </a:solidFill>
                          <a:latin typeface="Calibri"/>
                        </a:defRPr>
                      </a:pPr>
                      <a:r>
                        <a:t>Rs. 0.00</a:t>
                      </a:r>
                    </a:p>
                  </a:txBody>
                  <a:tcPr anchor="ctr">
                    <a:solidFill>
                      <a:srgbClr val="FFFFFF"/>
                    </a:solidFill>
                  </a:tcPr>
                </a:tc>
              </a:tr>
              <a:tr h="624844">
                <a:tc>
                  <a:txBody>
                    <a:bodyPr wrap="square"/>
                    <a:lstStyle/>
                    <a:p>
                      <a:pPr algn="l">
                        <a:defRPr sz="1000" b="0">
                          <a:solidFill>
                            <a:srgbClr val="0F172A"/>
                          </a:solidFill>
                          <a:latin typeface="Calibri"/>
                        </a:defRPr>
                      </a:pPr>
                      <a:r>
                        <a:t>Database &amp; Storage</a:t>
                      </a:r>
                    </a:p>
                  </a:txBody>
                  <a:tcPr anchor="ctr">
                    <a:solidFill>
                      <a:srgbClr val="EEF2FF"/>
                    </a:solidFill>
                  </a:tcPr>
                </a:tc>
                <a:tc>
                  <a:txBody>
                    <a:bodyPr wrap="square"/>
                    <a:lstStyle/>
                    <a:p>
                      <a:pPr algn="l">
                        <a:defRPr sz="1000" b="0">
                          <a:solidFill>
                            <a:srgbClr val="0F172A"/>
                          </a:solidFill>
                          <a:latin typeface="Calibri"/>
                        </a:defRPr>
                      </a:pPr>
                      <a:r>
                        <a:t>SQLite 3.x with SQLAlchemy ORM</a:t>
                      </a:r>
                    </a:p>
                  </a:txBody>
                  <a:tcPr anchor="ctr">
                    <a:solidFill>
                      <a:srgbClr val="EEF2FF"/>
                    </a:solidFill>
                  </a:tcPr>
                </a:tc>
                <a:tc>
                  <a:txBody>
                    <a:bodyPr wrap="square"/>
                    <a:lstStyle/>
                    <a:p>
                      <a:pPr algn="ctr">
                        <a:defRPr sz="1000" b="0">
                          <a:solidFill>
                            <a:srgbClr val="0F172A"/>
                          </a:solidFill>
                          <a:latin typeface="Calibri"/>
                        </a:defRPr>
                      </a:pPr>
                      <a:r>
                        <a:t>Local / Free</a:t>
                      </a:r>
                    </a:p>
                  </a:txBody>
                  <a:tcPr anchor="ctr">
                    <a:solidFill>
                      <a:srgbClr val="EEF2FF"/>
                    </a:solidFill>
                  </a:tcPr>
                </a:tc>
                <a:tc>
                  <a:txBody>
                    <a:bodyPr wrap="square"/>
                    <a:lstStyle/>
                    <a:p>
                      <a:pPr algn="ctr">
                        <a:defRPr sz="1000" b="1">
                          <a:solidFill>
                            <a:srgbClr val="16A34A"/>
                          </a:solidFill>
                          <a:latin typeface="Calibri"/>
                        </a:defRPr>
                      </a:pPr>
                      <a:r>
                        <a:t>Rs. 0.00</a:t>
                      </a:r>
                    </a:p>
                  </a:txBody>
                  <a:tcPr anchor="ctr">
                    <a:solidFill>
                      <a:srgbClr val="EEF2FF"/>
                    </a:solidFill>
                  </a:tcPr>
                </a:tc>
              </a:tr>
            </a:tbl>
          </a:graphicData>
        </a:graphic>
      </p:graphicFrame>
      <p:sp>
        <p:nvSpPr>
          <p:cNvPr id="14" name="Rounded Rectangle 13"/>
          <p:cNvSpPr/>
          <p:nvPr/>
        </p:nvSpPr>
        <p:spPr>
          <a:xfrm>
            <a:off x="7223760" y="1737360"/>
            <a:ext cx="4236415"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47088"/>
            <a:ext cx="3870655" cy="365760"/>
          </a:xfrm>
          <a:prstGeom prst="rect">
            <a:avLst/>
          </a:prstGeom>
          <a:noFill/>
        </p:spPr>
        <p:txBody>
          <a:bodyPr wrap="none">
            <a:spAutoFit/>
          </a:bodyPr>
          <a:lstStyle/>
          <a:p>
            <a:pPr>
              <a:defRPr sz="1400" b="1">
                <a:solidFill>
                  <a:srgbClr val="16A34A"/>
                </a:solidFill>
                <a:latin typeface="Calibri"/>
              </a:defRPr>
            </a:pPr>
            <a:r>
              <a:t>Financial Justification</a:t>
            </a:r>
          </a:p>
        </p:txBody>
      </p:sp>
      <p:sp>
        <p:nvSpPr>
          <p:cNvPr id="16" name="TextBox 15"/>
          <p:cNvSpPr txBox="1"/>
          <p:nvPr/>
        </p:nvSpPr>
        <p:spPr>
          <a:xfrm>
            <a:off x="7452360" y="2240280"/>
            <a:ext cx="3840480" cy="3840480"/>
          </a:xfrm>
          <a:prstGeom prst="rect">
            <a:avLst/>
          </a:prstGeom>
          <a:noFill/>
        </p:spPr>
        <p:txBody>
          <a:bodyPr wrap="square">
            <a:spAutoFit/>
          </a:bodyPr>
          <a:lstStyle/>
          <a:p>
            <a:pPr>
              <a:spcAft>
                <a:spcPts val="1000"/>
              </a:spcAft>
              <a:defRPr sz="1100">
                <a:solidFill>
                  <a:srgbClr val="0F172A"/>
                </a:solidFill>
                <a:latin typeface="Calibri"/>
              </a:defRPr>
            </a:pPr>
            <a:r>
              <a:t>•  Zero Financial Burden: 100% composed of open-source frameworks without commercial licensing.</a:t>
            </a:r>
          </a:p>
          <a:p>
            <a:pPr>
              <a:spcAft>
                <a:spcPts val="1000"/>
              </a:spcAft>
              <a:defRPr sz="1100">
                <a:solidFill>
                  <a:srgbClr val="0F172A"/>
                </a:solidFill>
                <a:latin typeface="Calibri"/>
              </a:defRPr>
            </a:pPr>
            <a:r>
              <a:t>•  No Specialized Hardware: Works on the existing college laptops and consumer webcams students already own.</a:t>
            </a:r>
          </a:p>
          <a:p>
            <a:pPr>
              <a:spcAft>
                <a:spcPts val="1000"/>
              </a:spcAft>
              <a:defRPr sz="1100">
                <a:solidFill>
                  <a:srgbClr val="0F172A"/>
                </a:solidFill>
                <a:latin typeface="Calibri"/>
              </a:defRPr>
            </a:pPr>
            <a:r>
              <a:t>•  Local Execution: Whisper and OpenCV run locally on consumer CPU, eliminating expensive GPU cloud billing.</a:t>
            </a:r>
          </a:p>
          <a:p>
            <a:pPr>
              <a:spcAft>
                <a:spcPts val="1000"/>
              </a:spcAft>
              <a:defRPr sz="1100">
                <a:solidFill>
                  <a:srgbClr val="0F172A"/>
                </a:solidFill>
                <a:latin typeface="Calibri"/>
              </a:defRPr>
            </a:pPr>
            <a:r>
              <a:t>•  Extensible for College: The Department of Computer Engg. can deploy the application on college intranet at zero ongoing cost.</a:t>
            </a:r>
          </a:p>
          <a:p>
            <a:pPr>
              <a:spcAft>
                <a:spcPts val="1000"/>
              </a:spcAft>
              <a:defRPr sz="1100">
                <a:solidFill>
                  <a:srgbClr val="0F172A"/>
                </a:solidFill>
                <a:latin typeface="Calibri"/>
              </a:defRPr>
            </a:pPr>
            <a:r>
              <a:t>•  Total Project Cost: Rs. 0.00 (Completely feasible for B.Tech Mini Project).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REFERENCES</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REFERENCES: SOURCE MATERIALS &amp; PRIOR WORK</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Academic literature, open-source software citations, and technical standards (IEEE style).</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15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621792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5852160" cy="365760"/>
          </a:xfrm>
          <a:prstGeom prst="rect">
            <a:avLst/>
          </a:prstGeom>
          <a:noFill/>
        </p:spPr>
        <p:txBody>
          <a:bodyPr wrap="none">
            <a:spAutoFit/>
          </a:bodyPr>
          <a:lstStyle/>
          <a:p>
            <a:pPr>
              <a:defRPr sz="1400" b="1">
                <a:solidFill>
                  <a:srgbClr val="4338CA"/>
                </a:solidFill>
                <a:latin typeface="Calibri"/>
              </a:defRPr>
            </a:pPr>
            <a:r>
              <a:t>Academic Papers &amp; Literature (IEEE)</a:t>
            </a:r>
          </a:p>
        </p:txBody>
      </p:sp>
      <p:sp>
        <p:nvSpPr>
          <p:cNvPr id="13" name="TextBox 12"/>
          <p:cNvSpPr txBox="1"/>
          <p:nvPr/>
        </p:nvSpPr>
        <p:spPr>
          <a:xfrm>
            <a:off x="960120" y="2240280"/>
            <a:ext cx="5760720" cy="3840480"/>
          </a:xfrm>
          <a:prstGeom prst="rect">
            <a:avLst/>
          </a:prstGeom>
          <a:noFill/>
        </p:spPr>
        <p:txBody>
          <a:bodyPr wrap="square">
            <a:spAutoFit/>
          </a:bodyPr>
          <a:lstStyle/>
          <a:p>
            <a:pPr>
              <a:spcAft>
                <a:spcPts val="1200"/>
              </a:spcAft>
              <a:defRPr sz="1050">
                <a:solidFill>
                  <a:srgbClr val="0F172A"/>
                </a:solidFill>
                <a:latin typeface="Calibri"/>
              </a:defRPr>
            </a:pPr>
            <a:r>
              <a:t>•  [1] M. E. Hoque, M. Courgeon, J. C. Martin, B. Mutlu, and R. W. Picard, 'MACH: My Automated Conversation Coach,' in Proc. ACM Int. Joint Conf. Pervasive and Ubiquitous Computing (UbiComp), 2013, pp. 697–706.</a:t>
            </a:r>
          </a:p>
          <a:p>
            <a:pPr>
              <a:spcAft>
                <a:spcPts val="1200"/>
              </a:spcAft>
              <a:defRPr sz="1050">
                <a:solidFill>
                  <a:srgbClr val="0F172A"/>
                </a:solidFill>
                <a:latin typeface="Calibri"/>
              </a:defRPr>
            </a:pPr>
            <a:r>
              <a:t>•  [2] A. Radford, J. W. Kim, T. Xu, G. Brockman, C. McLeavey, and I. Sutskever, 'Robust Speech Recognition via Large-Scale Weak Supervision' (Whisper), OpenAI arXiv preprint arXiv:2212.04356, 2022.</a:t>
            </a:r>
          </a:p>
          <a:p>
            <a:pPr>
              <a:spcAft>
                <a:spcPts val="1200"/>
              </a:spcAft>
              <a:defRPr sz="1050">
                <a:solidFill>
                  <a:srgbClr val="0F172A"/>
                </a:solidFill>
                <a:latin typeface="Calibri"/>
              </a:defRPr>
            </a:pPr>
            <a:r>
              <a:t>•  [3] G. Bradski, 'The OpenCV Library,' Dr. Dobb's Journal of Software Tools, vol. 25, no. 11, pp. 120–125, 2000.</a:t>
            </a:r>
          </a:p>
          <a:p>
            <a:pPr>
              <a:spcAft>
                <a:spcPts val="1200"/>
              </a:spcAft>
              <a:defRPr sz="1050">
                <a:solidFill>
                  <a:srgbClr val="0F172A"/>
                </a:solidFill>
                <a:latin typeface="Calibri"/>
              </a:defRPr>
            </a:pPr>
            <a:r>
              <a:t>•  [4] R. Ramírez, N. Palomares, and M. G. Pardo, 'Multimodal Automated Feedback for Public Speaking: A Review,' IEEE Transactions on Learning Technologies, vol. 14, no. 3, pp. 312–326, 2021.</a:t>
            </a:r>
          </a:p>
        </p:txBody>
      </p:sp>
      <p:sp>
        <p:nvSpPr>
          <p:cNvPr id="14" name="Rounded Rectangle 13"/>
          <p:cNvSpPr/>
          <p:nvPr/>
        </p:nvSpPr>
        <p:spPr>
          <a:xfrm>
            <a:off x="7223760" y="1737360"/>
            <a:ext cx="4236415"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847088"/>
            <a:ext cx="3870655" cy="365760"/>
          </a:xfrm>
          <a:prstGeom prst="rect">
            <a:avLst/>
          </a:prstGeom>
          <a:noFill/>
        </p:spPr>
        <p:txBody>
          <a:bodyPr wrap="none">
            <a:spAutoFit/>
          </a:bodyPr>
          <a:lstStyle/>
          <a:p>
            <a:pPr>
              <a:defRPr sz="1400" b="1">
                <a:solidFill>
                  <a:srgbClr val="4338CA"/>
                </a:solidFill>
                <a:latin typeface="Calibri"/>
              </a:defRPr>
            </a:pPr>
            <a:r>
              <a:t>Technical Documentation &amp; College Rubric</a:t>
            </a:r>
          </a:p>
        </p:txBody>
      </p:sp>
      <p:sp>
        <p:nvSpPr>
          <p:cNvPr id="16" name="TextBox 15"/>
          <p:cNvSpPr txBox="1"/>
          <p:nvPr/>
        </p:nvSpPr>
        <p:spPr>
          <a:xfrm>
            <a:off x="7452360" y="2240280"/>
            <a:ext cx="3840480" cy="3840480"/>
          </a:xfrm>
          <a:prstGeom prst="rect">
            <a:avLst/>
          </a:prstGeom>
          <a:noFill/>
        </p:spPr>
        <p:txBody>
          <a:bodyPr wrap="square">
            <a:spAutoFit/>
          </a:bodyPr>
          <a:lstStyle/>
          <a:p>
            <a:pPr>
              <a:spcAft>
                <a:spcPts val="1200"/>
              </a:spcAft>
              <a:defRPr sz="1050">
                <a:solidFill>
                  <a:srgbClr val="0F172A"/>
                </a:solidFill>
                <a:latin typeface="Calibri"/>
              </a:defRPr>
            </a:pPr>
            <a:r>
              <a:t>•  [5] S. Tiangolo, 'FastAPI Framework Documentation: Interactive API Building with Python 3.8+,' 2019. [Online: https://fastapi.tiangolo.com]</a:t>
            </a:r>
          </a:p>
          <a:p>
            <a:pPr>
              <a:spcAft>
                <a:spcPts val="1200"/>
              </a:spcAft>
              <a:defRPr sz="1050">
                <a:solidFill>
                  <a:srgbClr val="0F172A"/>
                </a:solidFill>
                <a:latin typeface="Calibri"/>
              </a:defRPr>
            </a:pPr>
            <a:r>
              <a:t>•  [6] Meta Open Source, 'React 18: A JavaScript Library for Building User Interfaces,' 2022. [Online: https://react.dev]</a:t>
            </a:r>
          </a:p>
          <a:p>
            <a:pPr>
              <a:spcAft>
                <a:spcPts val="1200"/>
              </a:spcAft>
              <a:defRPr sz="1050">
                <a:solidFill>
                  <a:srgbClr val="0F172A"/>
                </a:solidFill>
                <a:latin typeface="Calibri"/>
              </a:defRPr>
            </a:pPr>
            <a:r>
              <a:t>•  [7] SQLite Development Team, 'SQLite Database Engine: Embedded Relational Database,' 2023. [Online: https://sqlite.org]</a:t>
            </a:r>
          </a:p>
          <a:p>
            <a:pPr>
              <a:spcAft>
                <a:spcPts val="1200"/>
              </a:spcAft>
              <a:defRPr sz="1050">
                <a:solidFill>
                  <a:srgbClr val="0F172A"/>
                </a:solidFill>
                <a:latin typeface="Calibri"/>
              </a:defRPr>
            </a:pPr>
            <a:r>
              <a:t>•  [8] Department of Computer Engineering, 'Rubric for B.Tech Mini Project Proposal Template For Mini Project 2025-26 SEM A,' Shri G. S. Institute of Technology &amp; Science, Indore, 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EF2FF"/>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4338CA"/>
                </a:solidFill>
                <a:latin typeface="Calibri"/>
              </a:defRPr>
            </a:pPr>
            <a:r>
              <a:t>UNDERTAKING &amp; VERIFICATION</a:t>
            </a:r>
          </a:p>
        </p:txBody>
      </p:sp>
      <p:sp>
        <p:nvSpPr>
          <p:cNvPr id="4" name="TextBox 3"/>
          <p:cNvSpPr txBox="1"/>
          <p:nvPr/>
        </p:nvSpPr>
        <p:spPr>
          <a:xfrm>
            <a:off x="4754880" y="292608"/>
            <a:ext cx="6705295" cy="320040"/>
          </a:xfrm>
          <a:prstGeom prst="rect">
            <a:avLst/>
          </a:prstGeom>
          <a:noFill/>
        </p:spPr>
        <p:txBody>
          <a:bodyPr wrap="none">
            <a:spAutoFit/>
          </a:bodyPr>
          <a:lstStyle/>
          <a:p>
            <a:pPr algn="r">
              <a:defRPr sz="950" b="1">
                <a:solidFill>
                  <a:srgbClr val="475569"/>
                </a:solidFill>
                <a:latin typeface="Calibri"/>
              </a:defRPr>
            </a:pPr>
            <a:r>
              <a:t>SGSITS COMPUTER ENGG. | MINI PROJECT 2025-26 SEM A</a:t>
            </a:r>
          </a:p>
        </p:txBody>
      </p:sp>
      <p:sp>
        <p:nvSpPr>
          <p:cNvPr id="5" name="TextBox 4"/>
          <p:cNvSpPr txBox="1"/>
          <p:nvPr/>
        </p:nvSpPr>
        <p:spPr>
          <a:xfrm>
            <a:off x="731520" y="658368"/>
            <a:ext cx="10728655" cy="502920"/>
          </a:xfrm>
          <a:prstGeom prst="rect">
            <a:avLst/>
          </a:prstGeom>
          <a:noFill/>
        </p:spPr>
        <p:txBody>
          <a:bodyPr wrap="square">
            <a:spAutoFit/>
          </a:bodyPr>
          <a:lstStyle/>
          <a:p>
            <a:pPr>
              <a:defRPr sz="2100" b="1">
                <a:solidFill>
                  <a:srgbClr val="0F172A"/>
                </a:solidFill>
                <a:latin typeface="Calibri"/>
              </a:defRPr>
            </a:pPr>
            <a:r>
              <a:t>STUDENT UNDERTAKING &amp; SUPERVISOR SIGNATURE SECTION</a:t>
            </a:r>
          </a:p>
        </p:txBody>
      </p:sp>
      <p:sp>
        <p:nvSpPr>
          <p:cNvPr id="6" name="TextBox 5"/>
          <p:cNvSpPr txBox="1"/>
          <p:nvPr/>
        </p:nvSpPr>
        <p:spPr>
          <a:xfrm>
            <a:off x="731520" y="1143000"/>
            <a:ext cx="10728655" cy="365760"/>
          </a:xfrm>
          <a:prstGeom prst="rect">
            <a:avLst/>
          </a:prstGeom>
          <a:noFill/>
        </p:spPr>
        <p:txBody>
          <a:bodyPr wrap="square">
            <a:spAutoFit/>
          </a:bodyPr>
          <a:lstStyle/>
          <a:p>
            <a:pPr>
              <a:defRPr sz="1200">
                <a:solidFill>
                  <a:srgbClr val="475569"/>
                </a:solidFill>
                <a:latin typeface="Calibri"/>
              </a:defRPr>
            </a:pPr>
            <a:r>
              <a:t>Formal statement of originality, commitment, and faculty verification as mandated by the rubric.</a:t>
            </a:r>
          </a:p>
        </p:txBody>
      </p:sp>
      <p:sp>
        <p:nvSpPr>
          <p:cNvPr id="7" name="Rectangle 6"/>
          <p:cNvSpPr/>
          <p:nvPr/>
        </p:nvSpPr>
        <p:spPr>
          <a:xfrm>
            <a:off x="731520" y="155448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4114800" cy="320040"/>
          </a:xfrm>
          <a:prstGeom prst="rect">
            <a:avLst/>
          </a:prstGeom>
          <a:noFill/>
        </p:spPr>
        <p:txBody>
          <a:bodyPr wrap="none">
            <a:spAutoFit/>
          </a:bodyPr>
          <a:lstStyle/>
          <a:p>
            <a:pPr>
              <a:defRPr sz="1000">
                <a:solidFill>
                  <a:srgbClr val="475569"/>
                </a:solidFill>
                <a:latin typeface="Calibri"/>
              </a:defRPr>
            </a:pPr>
            <a:r>
              <a:t>DEPARTMENT OF COMPUTER ENGG. — B.Tech III Year</a:t>
            </a:r>
          </a:p>
        </p:txBody>
      </p:sp>
      <p:sp>
        <p:nvSpPr>
          <p:cNvPr id="9" name="TextBox 8"/>
          <p:cNvSpPr txBox="1"/>
          <p:nvPr/>
        </p:nvSpPr>
        <p:spPr>
          <a:xfrm>
            <a:off x="5029200" y="6446520"/>
            <a:ext cx="2133295" cy="320040"/>
          </a:xfrm>
          <a:prstGeom prst="rect">
            <a:avLst/>
          </a:prstGeom>
          <a:noFill/>
        </p:spPr>
        <p:txBody>
          <a:bodyPr wrap="none">
            <a:spAutoFit/>
          </a:bodyPr>
          <a:lstStyle/>
          <a:p>
            <a:pPr algn="ctr">
              <a:defRPr sz="1000" b="1">
                <a:solidFill>
                  <a:srgbClr val="0F172A"/>
                </a:solidFill>
                <a:latin typeface="Calibri"/>
              </a:defRPr>
            </a:pPr>
            <a:r>
              <a:t>Slide 16 of 16</a:t>
            </a:r>
          </a:p>
        </p:txBody>
      </p:sp>
      <p:sp>
        <p:nvSpPr>
          <p:cNvPr id="10" name="TextBox 9"/>
          <p:cNvSpPr txBox="1"/>
          <p:nvPr/>
        </p:nvSpPr>
        <p:spPr>
          <a:xfrm>
            <a:off x="7315200" y="6446520"/>
            <a:ext cx="4144975" cy="320040"/>
          </a:xfrm>
          <a:prstGeom prst="rect">
            <a:avLst/>
          </a:prstGeom>
          <a:noFill/>
        </p:spPr>
        <p:txBody>
          <a:bodyPr wrap="none">
            <a:spAutoFit/>
          </a:bodyPr>
          <a:lstStyle/>
          <a:p>
            <a:pPr algn="r">
              <a:defRPr sz="1000" b="1">
                <a:solidFill>
                  <a:srgbClr val="475569"/>
                </a:solidFill>
                <a:latin typeface="Calibri"/>
              </a:defRPr>
            </a:pPr>
            <a:r>
              <a:t>Shri G.S. Institute of Tech. &amp; Science, Indore</a:t>
            </a:r>
          </a:p>
        </p:txBody>
      </p:sp>
      <p:sp>
        <p:nvSpPr>
          <p:cNvPr id="11" name="Rounded Rectangle 10"/>
          <p:cNvSpPr/>
          <p:nvPr/>
        </p:nvSpPr>
        <p:spPr>
          <a:xfrm>
            <a:off x="7315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847088"/>
            <a:ext cx="4846320" cy="365760"/>
          </a:xfrm>
          <a:prstGeom prst="rect">
            <a:avLst/>
          </a:prstGeom>
          <a:noFill/>
        </p:spPr>
        <p:txBody>
          <a:bodyPr wrap="none">
            <a:spAutoFit/>
          </a:bodyPr>
          <a:lstStyle/>
          <a:p>
            <a:pPr>
              <a:defRPr sz="1400" b="1">
                <a:solidFill>
                  <a:srgbClr val="4338CA"/>
                </a:solidFill>
                <a:latin typeface="Calibri"/>
              </a:defRPr>
            </a:pPr>
            <a:r>
              <a:t>Student Undertaking (Statement of Originality)</a:t>
            </a:r>
          </a:p>
        </p:txBody>
      </p:sp>
      <p:sp>
        <p:nvSpPr>
          <p:cNvPr id="13" name="Rounded Rectangle 12"/>
          <p:cNvSpPr/>
          <p:nvPr/>
        </p:nvSpPr>
        <p:spPr>
          <a:xfrm>
            <a:off x="914400" y="2240280"/>
            <a:ext cx="4846320" cy="182880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F172A"/>
                </a:solidFill>
                <a:latin typeface="Calibri"/>
              </a:defRPr>
            </a:pPr>
            <a:r>
              <a:t>“We hereby declare that this Mini Project Proposal titled 'Confidence AI' is our authentic and original work. The features, architecture, methodology, and timeline presented represent genuine engineering effort developed under the guidance of our project supervisor. We commit to fulfilling all deliverables adhering to S.G.S.I.T.S. academic integrity standards.”</a:t>
            </a:r>
          </a:p>
        </p:txBody>
      </p:sp>
      <p:sp>
        <p:nvSpPr>
          <p:cNvPr id="14" name="Rounded Rectangle 13"/>
          <p:cNvSpPr/>
          <p:nvPr/>
        </p:nvSpPr>
        <p:spPr>
          <a:xfrm>
            <a:off x="914400" y="4206240"/>
            <a:ext cx="4846320" cy="1828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315968"/>
            <a:ext cx="4480560" cy="365760"/>
          </a:xfrm>
          <a:prstGeom prst="rect">
            <a:avLst/>
          </a:prstGeom>
          <a:noFill/>
        </p:spPr>
        <p:txBody>
          <a:bodyPr wrap="none">
            <a:spAutoFit/>
          </a:bodyPr>
          <a:lstStyle/>
          <a:p>
            <a:pPr>
              <a:defRPr sz="1400" b="1">
                <a:solidFill>
                  <a:srgbClr val="4338CA"/>
                </a:solidFill>
                <a:latin typeface="Calibri"/>
              </a:defRPr>
            </a:pPr>
            <a:r>
              <a:t>Candidate Signatures &amp; Details</a:t>
            </a:r>
          </a:p>
        </p:txBody>
      </p:sp>
      <p:sp>
        <p:nvSpPr>
          <p:cNvPr id="16" name="TextBox 15"/>
          <p:cNvSpPr txBox="1"/>
          <p:nvPr/>
        </p:nvSpPr>
        <p:spPr>
          <a:xfrm>
            <a:off x="1051560" y="4617720"/>
            <a:ext cx="4572000" cy="1280160"/>
          </a:xfrm>
          <a:prstGeom prst="rect">
            <a:avLst/>
          </a:prstGeom>
          <a:noFill/>
        </p:spPr>
        <p:txBody>
          <a:bodyPr wrap="square">
            <a:spAutoFit/>
          </a:bodyPr>
          <a:lstStyle/>
          <a:p>
            <a:pPr>
              <a:spcAft>
                <a:spcPts val="600"/>
              </a:spcAft>
              <a:defRPr sz="1050">
                <a:solidFill>
                  <a:srgbClr val="0F172A"/>
                </a:solidFill>
                <a:latin typeface="Calibri"/>
              </a:defRPr>
            </a:pPr>
            <a:r>
              <a:t>•  Student 1: Abhay Randa (0801CS221004) — Signature: ____________________</a:t>
            </a:r>
          </a:p>
          <a:p>
            <a:pPr>
              <a:spcAft>
                <a:spcPts val="600"/>
              </a:spcAft>
              <a:defRPr sz="1050">
                <a:solidFill>
                  <a:srgbClr val="0F172A"/>
                </a:solidFill>
                <a:latin typeface="Calibri"/>
              </a:defRPr>
            </a:pPr>
            <a:r>
              <a:t>•  Student 2: Team Member 2 (0801CS221xxx) — Signature: ____________________</a:t>
            </a:r>
          </a:p>
          <a:p>
            <a:pPr>
              <a:spcAft>
                <a:spcPts val="600"/>
              </a:spcAft>
              <a:defRPr sz="1050">
                <a:solidFill>
                  <a:srgbClr val="0F172A"/>
                </a:solidFill>
                <a:latin typeface="Calibri"/>
              </a:defRPr>
            </a:pPr>
            <a:r>
              <a:t>•  Branch: Computer Engineering | Class: B.Tech III Year, SEM A</a:t>
            </a:r>
          </a:p>
          <a:p>
            <a:pPr>
              <a:spcAft>
                <a:spcPts val="600"/>
              </a:spcAft>
              <a:defRPr sz="1050">
                <a:solidFill>
                  <a:srgbClr val="0F172A"/>
                </a:solidFill>
                <a:latin typeface="Calibri"/>
              </a:defRPr>
            </a:pPr>
            <a:r>
              <a:t>•  Date of Proposal Defense: ____________________</a:t>
            </a:r>
          </a:p>
        </p:txBody>
      </p:sp>
      <p:sp>
        <p:nvSpPr>
          <p:cNvPr id="17" name="Rounded Rectangle 16"/>
          <p:cNvSpPr/>
          <p:nvPr/>
        </p:nvSpPr>
        <p:spPr>
          <a:xfrm>
            <a:off x="6217920" y="1737360"/>
            <a:ext cx="5212080" cy="4480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847088"/>
            <a:ext cx="4846320" cy="365760"/>
          </a:xfrm>
          <a:prstGeom prst="rect">
            <a:avLst/>
          </a:prstGeom>
          <a:noFill/>
        </p:spPr>
        <p:txBody>
          <a:bodyPr wrap="none">
            <a:spAutoFit/>
          </a:bodyPr>
          <a:lstStyle/>
          <a:p>
            <a:pPr>
              <a:defRPr sz="1400" b="1">
                <a:solidFill>
                  <a:srgbClr val="16A34A"/>
                </a:solidFill>
                <a:latin typeface="Calibri"/>
              </a:defRPr>
            </a:pPr>
            <a:r>
              <a:t>Supervisor / Faculty Verification &amp; Approval</a:t>
            </a:r>
          </a:p>
        </p:txBody>
      </p:sp>
      <p:sp>
        <p:nvSpPr>
          <p:cNvPr id="19" name="Rounded Rectangle 18"/>
          <p:cNvSpPr/>
          <p:nvPr/>
        </p:nvSpPr>
        <p:spPr>
          <a:xfrm>
            <a:off x="6400800" y="2240280"/>
            <a:ext cx="4846320" cy="1828800"/>
          </a:xfrm>
          <a:prstGeom prst="roundRect">
            <a:avLst/>
          </a:prstGeom>
          <a:solidFill>
            <a:srgbClr val="F0FDF4"/>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0F172A"/>
                </a:solidFill>
                <a:latin typeface="Calibri"/>
              </a:defRPr>
            </a:pPr>
            <a:r>
              <a:t>“I have reviewed the Mini Project Proposal for 'Confidence AI' submitted by the B.Tech III Year students. The problem statement, literature survey, methodology, work plan, and deliverables satisfy the academic requirements of Mini Project 2025-26 SEM A. The proposal is recommended for approval.”</a:t>
            </a:r>
          </a:p>
        </p:txBody>
      </p:sp>
      <p:sp>
        <p:nvSpPr>
          <p:cNvPr id="20" name="Rounded Rectangle 19"/>
          <p:cNvSpPr/>
          <p:nvPr/>
        </p:nvSpPr>
        <p:spPr>
          <a:xfrm>
            <a:off x="6400800" y="4206240"/>
            <a:ext cx="4846320" cy="1828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315968"/>
            <a:ext cx="4480560" cy="365760"/>
          </a:xfrm>
          <a:prstGeom prst="rect">
            <a:avLst/>
          </a:prstGeom>
          <a:noFill/>
        </p:spPr>
        <p:txBody>
          <a:bodyPr wrap="none">
            <a:spAutoFit/>
          </a:bodyPr>
          <a:lstStyle/>
          <a:p>
            <a:pPr>
              <a:defRPr sz="1400" b="1">
                <a:solidFill>
                  <a:srgbClr val="16A34A"/>
                </a:solidFill>
                <a:latin typeface="Calibri"/>
              </a:defRPr>
            </a:pPr>
            <a:r>
              <a:t>Faculty Guide &amp; Department Approval</a:t>
            </a:r>
          </a:p>
        </p:txBody>
      </p:sp>
      <p:sp>
        <p:nvSpPr>
          <p:cNvPr id="22" name="TextBox 21"/>
          <p:cNvSpPr txBox="1"/>
          <p:nvPr/>
        </p:nvSpPr>
        <p:spPr>
          <a:xfrm>
            <a:off x="6537960" y="4617720"/>
            <a:ext cx="4572000" cy="1280160"/>
          </a:xfrm>
          <a:prstGeom prst="rect">
            <a:avLst/>
          </a:prstGeom>
          <a:noFill/>
        </p:spPr>
        <p:txBody>
          <a:bodyPr wrap="square">
            <a:spAutoFit/>
          </a:bodyPr>
          <a:lstStyle/>
          <a:p>
            <a:pPr>
              <a:spcAft>
                <a:spcPts val="600"/>
              </a:spcAft>
              <a:defRPr sz="1050">
                <a:solidFill>
                  <a:srgbClr val="0F172A"/>
                </a:solidFill>
                <a:latin typeface="Calibri"/>
              </a:defRPr>
            </a:pPr>
            <a:r>
              <a:t>•  Project Supervisor Signature: ___________________________________</a:t>
            </a:r>
          </a:p>
          <a:p>
            <a:pPr>
              <a:spcAft>
                <a:spcPts val="600"/>
              </a:spcAft>
              <a:defRPr sz="1050">
                <a:solidFill>
                  <a:srgbClr val="0F172A"/>
                </a:solidFill>
                <a:latin typeface="Calibri"/>
              </a:defRPr>
            </a:pPr>
            <a:r>
              <a:t>•  Faculty Guide Name: ___________________________________________</a:t>
            </a:r>
          </a:p>
          <a:p>
            <a:pPr>
              <a:spcAft>
                <a:spcPts val="600"/>
              </a:spcAft>
              <a:defRPr sz="1050">
                <a:solidFill>
                  <a:srgbClr val="0F172A"/>
                </a:solidFill>
                <a:latin typeface="Calibri"/>
              </a:defRPr>
            </a:pPr>
            <a:r>
              <a:t>•  Designation: Assistant Professor / Associate Professor, Computer Engg.</a:t>
            </a:r>
          </a:p>
          <a:p>
            <a:pPr>
              <a:spcAft>
                <a:spcPts val="600"/>
              </a:spcAft>
              <a:defRPr sz="1050">
                <a:solidFill>
                  <a:srgbClr val="0F172A"/>
                </a:solidFill>
                <a:latin typeface="Calibri"/>
              </a:defRPr>
            </a:pPr>
            <a:r>
              <a:t>•  Head of Department (Computer Engg.): ___________________________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